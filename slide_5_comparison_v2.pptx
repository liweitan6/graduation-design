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Microsoft YaHei"/>
              </a:defRPr>
            </a:pPr>
            <a:r>
              <a:t>研究背景：模糊测试的引入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5303520" cy="2560320"/>
          </a:xfrm>
          <a:prstGeom prst="rect">
            <a:avLst/>
          </a:prstGeom>
          <a:solidFill>
            <a:srgbClr val="F6F7F8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646464"/>
                </a:solidFill>
                <a:latin typeface="Microsoft YaHei"/>
              </a:defRPr>
            </a:pPr>
            <a:r>
              <a:t>📌 传统测试手段 (Traditional)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Microsoft YaHei"/>
              </a:rPr>
              <a:t>• 生成方式：</a:t>
            </a:r>
            <a:r>
              <a:rPr sz="1150">
                <a:solidFill>
                  <a:srgbClr val="333333"/>
                </a:solidFill>
                <a:latin typeface="Microsoft YaHei"/>
              </a:rPr>
              <a:t>依赖人工经验手动编写，编写成本高、测试规模有限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Microsoft YaHei"/>
              </a:rPr>
              <a:t>• 参数分布：</a:t>
            </a:r>
            <a:r>
              <a:rPr sz="1150">
                <a:solidFill>
                  <a:srgbClr val="333333"/>
                </a:solidFill>
                <a:latin typeface="Microsoft YaHei"/>
              </a:rPr>
              <a:t>集中于常规参数，仅覆盖主干功能，无法触及边缘状态</a:t>
            </a:r>
          </a:p>
          <a:p>
            <a:r>
              <a:rPr sz="1150" b="1">
                <a:solidFill>
                  <a:srgbClr val="333333"/>
                </a:solidFill>
                <a:latin typeface="Microsoft YaHei"/>
              </a:rPr>
              <a:t>• 缺陷捕获：</a:t>
            </a:r>
            <a:r>
              <a:rPr sz="1150">
                <a:solidFill>
                  <a:srgbClr val="333333"/>
                </a:solidFill>
                <a:latin typeface="Microsoft YaHei"/>
              </a:rPr>
              <a:t>依赖预期输出比对，难以捕获底层的内存溢出与语义崩溃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280160"/>
            <a:ext cx="5303520" cy="2560320"/>
          </a:xfrm>
          <a:prstGeom prst="rect">
            <a:avLst/>
          </a:prstGeom>
          <a:solidFill>
            <a:srgbClr val="EEF4FC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🚀 模糊测试 (Fuzzing)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Microsoft YaHei"/>
              </a:rPr>
              <a:t>• 生成方式：</a:t>
            </a:r>
            <a:r>
              <a:rPr sz="1150">
                <a:solidFill>
                  <a:srgbClr val="333333"/>
                </a:solidFill>
                <a:latin typeface="Microsoft YaHei"/>
              </a:rPr>
              <a:t>通过算法自动高频变异，实现海量用例的全自动批量覆盖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Microsoft YaHei"/>
              </a:rPr>
              <a:t>• 参数分布：</a:t>
            </a:r>
            <a:r>
              <a:rPr sz="1150">
                <a:solidFill>
                  <a:srgbClr val="333333"/>
                </a:solidFill>
                <a:latin typeface="Microsoft YaHei"/>
              </a:rPr>
              <a:t>聚焦极端与畸形参数，直击底层算子运行的极限边界状态</a:t>
            </a:r>
          </a:p>
          <a:p>
            <a:r>
              <a:rPr sz="1150" b="1">
                <a:solidFill>
                  <a:srgbClr val="333333"/>
                </a:solidFill>
                <a:latin typeface="Microsoft YaHei"/>
              </a:rPr>
              <a:t>• 缺陷捕获：</a:t>
            </a:r>
            <a:r>
              <a:rPr sz="1150">
                <a:solidFill>
                  <a:srgbClr val="333333"/>
                </a:solidFill>
                <a:latin typeface="Microsoft YaHei"/>
              </a:rPr>
              <a:t>进行全天候底层监控，强制触发非预期执行流并捕获隐蔽漏洞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11094415" cy="2011680"/>
          </a:xfrm>
          <a:prstGeom prst="roundRect">
            <a:avLst/>
          </a:prstGeom>
          <a:solidFill>
            <a:srgbClr val="FDFEFF"/>
          </a:solidFill>
          <a:ln w="19050">
            <a:solidFill>
              <a:srgbClr val="DADC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F4E79"/>
                </a:solidFill>
                <a:latin typeface="Microsoft YaHei"/>
              </a:defRPr>
            </a:pPr>
            <a:r>
              <a:t>💡 页面设计说明（制作完后可删去此提示框）：</a:t>
            </a:r>
          </a:p>
          <a:p>
            <a:pPr algn="ctr">
              <a:spcAft>
                <a:spcPts val="4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1. 上方的“左右对称对照双栏”已为您生成完毕，具有完美的颜色对比度与学术级的行高边距。</a:t>
            </a:r>
            <a:br/>
            <a:r>
              <a:t>2. 您可以直接将本 PPT 文件中的两个“对照盒子”全选复制，并粘贴覆盖到您原有的 Slide 5 上半部分文字区。</a:t>
            </a:r>
            <a:br/>
            <a:r>
              <a:t>3. 此处虚线框内的空间已为您精确预留，您可以直接把自己原来的“变异流程图”（提取原始种子 -&gt; 变异引擎 -&gt; 生成计算图 -&gt; 监控）整体拖放到本虚线框内，即可形成完美的上下视觉呼应！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