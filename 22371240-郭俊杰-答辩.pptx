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22.svg" ContentType="image/svg+xml"/>
  <Override PartName="/ppt/media/image2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953" r:id="rId3"/>
    <p:sldId id="939" r:id="rId5"/>
    <p:sldId id="954" r:id="rId6"/>
    <p:sldId id="955" r:id="rId7"/>
    <p:sldId id="956" r:id="rId8"/>
    <p:sldId id="957" r:id="rId9"/>
    <p:sldId id="966" r:id="rId10"/>
    <p:sldId id="973" r:id="rId11"/>
    <p:sldId id="982" r:id="rId12"/>
    <p:sldId id="967" r:id="rId13"/>
    <p:sldId id="983" r:id="rId14"/>
    <p:sldId id="968" r:id="rId15"/>
    <p:sldId id="984" r:id="rId16"/>
    <p:sldId id="969" r:id="rId17"/>
    <p:sldId id="981" r:id="rId18"/>
    <p:sldId id="265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8" clrIdx="0"/>
  <p:cmAuthor id="2" name="Yang Hailong" initials="YH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BF4"/>
    <a:srgbClr val="ADD8E6"/>
    <a:srgbClr val="D3D3D3"/>
    <a:srgbClr val="FFA500"/>
    <a:srgbClr val="CBEAC0"/>
    <a:srgbClr val="8ADFFF"/>
    <a:srgbClr val="00B050"/>
    <a:srgbClr val="C9DA92"/>
    <a:srgbClr val="44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0" autoAdjust="0"/>
    <p:restoredTop sz="72090" autoAdjust="0"/>
  </p:normalViewPr>
  <p:slideViewPr>
    <p:cSldViewPr snapToGrid="0">
      <p:cViewPr varScale="1">
        <p:scale>
          <a:sx n="62" d="100"/>
          <a:sy n="62" d="100"/>
        </p:scale>
        <p:origin x="1560" y="3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74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5BBBB-F645-47CF-A951-C40C4997C4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各位老师好，我汇报的题目是《面向深度学习系统模糊测试的测试用例智能管理与分析》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我将从以下五个方面进行</a:t>
            </a:r>
            <a:r>
              <a:rPr lang="zh-CN" altLang="en-US" dirty="0"/>
              <a:t>汇报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首先来看研究背景。深度学习框架，已经成为人工智能领域的基石。它们的稳定性直接决定了上层应用的可靠性。然而，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框架的复杂性也导致了内部的逻辑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缺陷。</a:t>
            </a:r>
            <a:endParaRPr lang="zh-CN" altLang="en-US">
              <a:solidFill>
                <a:srgbClr val="000000"/>
              </a:solidFill>
              <a:sym typeface="+mn-ea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sym typeface="+mn-ea"/>
              </a:rPr>
              <a:t>这些缺陷具有极强的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隐蔽性，如特定张量维度组合、混合精度计算产生的微小截断误差，这种误差不会触发系统级中断异常，而是在训练中被固化为内化权重。</a:t>
            </a:r>
            <a:endParaRPr lang="zh-CN" altLang="en-US">
              <a:solidFill>
                <a:srgbClr val="000000"/>
              </a:solidFill>
              <a:sym typeface="+mn-ea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sym typeface="+mn-ea"/>
              </a:rPr>
              <a:t>在部署至下游安全关键场景后，导致系统漏检与致命决策失误。</a:t>
            </a:r>
            <a:r>
              <a:rPr lang="en-US">
                <a:solidFill>
                  <a:srgbClr val="000000"/>
                </a:solidFill>
                <a:sym typeface="+mn-ea"/>
              </a:rPr>
              <a:t>因此，针对AI框架的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自动化测试与验证实验</a:t>
            </a:r>
            <a:r>
              <a:rPr lang="en-US">
                <a:solidFill>
                  <a:srgbClr val="000000"/>
                </a:solidFill>
                <a:sym typeface="+mn-ea"/>
              </a:rPr>
              <a:t>具有重要的现实意义。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对于这类缺陷，传统测试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手段难以覆盖庞大的输入空间。因此，学术界引入了模糊测试（</a:t>
            </a:r>
            <a:r>
              <a:rPr lang="en-US" altLang="zh-CN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Fuzzing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）技术</a:t>
            </a:r>
            <a:r>
              <a:rPr lang="en-US" altLang="zh-CN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模糊测试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能够</a:t>
            </a:r>
            <a:r>
              <a:rPr 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高频生成包含极端边界状态的计算图脚本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，并且全天候执行，</a:t>
            </a:r>
            <a:r>
              <a:rPr 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强制触发非预期执行流，主动暴露</a:t>
            </a: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框架的</a:t>
            </a:r>
            <a:r>
              <a:rPr 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隐蔽</a:t>
            </a: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缺陷</a:t>
            </a:r>
            <a:r>
              <a:rPr 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模糊测试系统首先提取原始</a:t>
            </a:r>
            <a:r>
              <a:rPr lang="en-US" altLang="zh-CN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API 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或种子，送入变异引擎注入极端的参数或张量维度。然后将生成的变异计算图脚本，送入底层的</a:t>
            </a:r>
            <a:r>
              <a:rPr lang="en-US" altLang="zh-CN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AI 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框架中进行执行与监控。再将捕获的状态再次送入变异引擎中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从而持续</a:t>
            </a:r>
            <a:r>
              <a:rPr lang="zh-CN" altLang="en-US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迭代。</a:t>
            </a:r>
            <a:endParaRPr lang="zh-CN" altLang="en-US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模糊测试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的这种特性带来了三大痛点：</a:t>
            </a:r>
            <a:r>
              <a:rPr lang="en-US">
                <a:solidFill>
                  <a:srgbClr val="000000"/>
                </a:solidFill>
                <a:sym typeface="+mn-ea"/>
              </a:rPr>
              <a:t>第一，检索与定位困难，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集群每天会执行数十万次调度，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产生大量复杂的日志信息，难以快速找到问题根源</a:t>
            </a:r>
            <a:r>
              <a:rPr lang="en-US">
                <a:solidFill>
                  <a:srgbClr val="000000"/>
                </a:solidFill>
                <a:sym typeface="+mn-ea"/>
              </a:rPr>
              <a:t>。第二，模糊测试的变异策略倾向于在已知的路径附近进行，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从而导致</a:t>
            </a:r>
            <a:r>
              <a:rPr lang="en-US">
                <a:solidFill>
                  <a:srgbClr val="000000"/>
                </a:solidFill>
                <a:sym typeface="+mn-ea"/>
              </a:rPr>
              <a:t>陷入局部最优，无法发现新的漏洞。第三，效能评估维度单一，大量低价值的测试用例浪费了宝贵的计算资源。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针对这些痛点，我们的研究目标是构建一个智能的测试用例管理与分析系统。具体来说，我们有三个核心目标：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第一，通过异构存储打破数据孤岛，统一管理结构化和非结构化数据；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第二，</a:t>
            </a:r>
            <a:r>
              <a:rPr lang="en-US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通过多样性监测和效能量化，建立多维指标体系</a:t>
            </a:r>
            <a:r>
              <a:rPr lang="en-US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，提升资源的有效利用率。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第三，利用大语言模型构建一个“分析-评估-生成”的智能闭环，实现自动诊断和定向补盲。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通过这三个目标的实现，我们希望能显著提升测试管理的效能。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接下来是工作进展部分。首先，我完成了日志解析与故障定界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模块</a:t>
            </a:r>
            <a:r>
              <a:rPr 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LogParser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模块</a:t>
            </a:r>
            <a:r>
              <a:rPr 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，能够自动解析模糊测试产生的崩溃日志，并将其转换为结构化的JSON格式，目前已支持8种常见的框架错误。</a:t>
            </a:r>
            <a:endParaRPr lang="en-US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同时，我们实现了溯源映射功能，它能够根据计算图的拓扑结构，逆向追踪并定位导致崩溃的可疑算子，大大缩短了人工排查问题的时间。</a:t>
            </a:r>
            <a:endParaRPr 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右图就是经过这两个模块处理后的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json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接下来是异构数据输入与存储模块。由于模糊测试会产生大量的测试产物，因此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系统利用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Python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的异步协程技术进行了流量削峰。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系统在接收到数据后，会将其拆分为结构化的元数据以及经过模型提取的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384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维深层语义向量，分别存入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mysql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Milvus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当中。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最后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以全局唯一的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case_uid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作为强关联约束，在提升系统吞吐量的同时规避脏读风险。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模糊测试引擎很容易陷入局部最优，反复生成结构雷同的计算图。我们从向量库中拉取了高维语义特征向量，在后端通过主成分分析将其投射到二维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平面。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图中的深色网格暴露出变异引擎从未成功组合过的算子对。发现盲区后，系统会自动提取这些边缘组合，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将空缺算子对转换为强规格约束提示词，驱动大模型自动输出原生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PyTorch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补盲测试用例。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sym typeface="+mn-ea"/>
              </a:rPr>
              <a:t>最后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系统实现</a:t>
            </a:r>
            <a:r>
              <a:rPr lang="en-US">
                <a:solidFill>
                  <a:srgbClr val="000000"/>
                </a:solidFill>
                <a:sym typeface="+mn-ea"/>
              </a:rPr>
              <a:t>并验证了基于CEI的动态筛选模型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，该模型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以代码分支覆盖增量为分子，以算子加权耗时为分母，量化评估单体用例的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投入产出比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zh-CN" altLang="en-US" b="0" i="0" u="none" strike="noStrike">
                <a:solidFill>
                  <a:srgbClr val="000000"/>
                </a:solidFill>
              </a:rPr>
              <a:t>为了验证算法的有效性，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利用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Gcov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编译带有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C++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探针的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PyTorch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引擎，获取最真实的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C++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物理行覆盖率。</a:t>
            </a:r>
            <a:endParaRPr lang="zh-CN" altLang="en-US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实验结果表明系统采用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CEI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算法剔除掉低价值用例后，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代码覆盖率几乎不变，而执行耗时下降了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34.5%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当前系统仍存在两项瓶颈：一是在向量空间中，部分深层逻辑异常与常规报错存在表征混淆，导致召回偏差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；二是补盲脚本缺乏自动化的合规性验证，易引入包含语法错误或废弃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的脏数据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为了解决这两个问题，在后续安排中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引入差分和沙箱两个核心机制。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首先是差分调试机制。以往的诊断只看失败用例，往往看不出本质。下阶段我们将引入双向比对的思想：当一个用例失效时，我们不仅要找相似的失败案例，还要定向召回结构相似但执行成功的案例。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其次为了解决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llm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生成代码的合规性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风险，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以上是我中期答辩的全部内容，感谢各位老师，请老师们批评指正。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A7D200-09F0-4584-B62C-5165A5836F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11424" y="1772816"/>
            <a:ext cx="10363200" cy="1143000"/>
          </a:xfrm>
        </p:spPr>
        <p:txBody>
          <a:bodyPr/>
          <a:lstStyle>
            <a:lvl1pPr algn="ctr">
              <a:defRPr sz="4000" b="1" cap="none" spc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891608"/>
            <a:ext cx="8534400" cy="1273696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 baseline="0">
                <a:ln w="9000" cmpd="sng">
                  <a:noFill/>
                  <a:prstDash val="solid"/>
                </a:ln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18" name="Picture 2" descr="http://old.buaa.edu.cn/images/content/2010-09/20100914173821095744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91410"/>
            <a:ext cx="12192000" cy="1622323"/>
          </a:xfrm>
          <a:prstGeom prst="rect">
            <a:avLst/>
          </a:prstGeom>
          <a:noFill/>
        </p:spPr>
      </p:pic>
      <p:cxnSp>
        <p:nvCxnSpPr>
          <p:cNvPr id="19" name="直接连接符 18"/>
          <p:cNvCxnSpPr/>
          <p:nvPr userDrawn="1"/>
        </p:nvCxnSpPr>
        <p:spPr bwMode="auto">
          <a:xfrm>
            <a:off x="0" y="4797152"/>
            <a:ext cx="12192000" cy="0"/>
          </a:xfrm>
          <a:prstGeom prst="line">
            <a:avLst/>
          </a:prstGeom>
          <a:ln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>
          <a:xfrm>
            <a:off x="61197" y="6510874"/>
            <a:ext cx="25400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E68C0792-DA40-43E5-BB51-6F0D0D13F89C}" type="datetime1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510874"/>
            <a:ext cx="38608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486467" y="6510874"/>
            <a:ext cx="644336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365" y="1196752"/>
            <a:ext cx="11412736" cy="4972400"/>
          </a:xfr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lang="zh-CN" altLang="en-US" sz="2400" b="0" cap="none" spc="0" baseline="0" dirty="0" smtClean="0">
                <a:ln w="9000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lang="zh-CN" altLang="en-US" sz="2000" b="0" cap="none" spc="0" baseline="0" dirty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endParaRPr lang="zh-CN" altLang="en-US" dirty="0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>
          <a:xfrm>
            <a:off x="61197" y="6510874"/>
            <a:ext cx="25400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FB4633A8-1B83-42BF-A43F-2A467460F7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510874"/>
            <a:ext cx="38608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486467" y="6510874"/>
            <a:ext cx="644336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3367" y="1371600"/>
            <a:ext cx="5080000" cy="4114800"/>
          </a:xfrm>
        </p:spPr>
        <p:txBody>
          <a:bodyPr/>
          <a:lstStyle>
            <a:lvl1pPr marL="0" indent="0">
              <a:buNone/>
              <a:defRPr sz="2800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000"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1800"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1800"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080000" cy="4114800"/>
          </a:xfrm>
        </p:spPr>
        <p:txBody>
          <a:bodyPr/>
          <a:lstStyle>
            <a:lvl1pPr marL="0" indent="0">
              <a:buNone/>
              <a:defRPr sz="2800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000"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1800"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1800"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zh-CN" altLang="en-US" dirty="0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0"/>
          </p:nvPr>
        </p:nvSpPr>
        <p:spPr>
          <a:xfrm>
            <a:off x="61197" y="6510874"/>
            <a:ext cx="25400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BA1AABBC-FF68-4E3E-9D30-01BBC07EC33D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510874"/>
            <a:ext cx="38608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486467" y="6510874"/>
            <a:ext cx="644336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3367" y="1151511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3367" y="1989710"/>
            <a:ext cx="5386917" cy="3951288"/>
          </a:xfrm>
        </p:spPr>
        <p:txBody>
          <a:bodyPr/>
          <a:lstStyle>
            <a:lvl1pPr marL="0" indent="0">
              <a:buNone/>
              <a:defRPr sz="2400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000"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1800"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1600"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1600"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151511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1989710"/>
            <a:ext cx="5389033" cy="3951288"/>
          </a:xfrm>
        </p:spPr>
        <p:txBody>
          <a:bodyPr/>
          <a:lstStyle>
            <a:lvl1pPr marL="0" indent="0">
              <a:buNone/>
              <a:defRPr sz="2400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000"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1800"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1600"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1600"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383367" y="344405"/>
            <a:ext cx="10220317" cy="552571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日期占位符 4"/>
          <p:cNvSpPr>
            <a:spLocks noGrp="1"/>
          </p:cNvSpPr>
          <p:nvPr>
            <p:ph type="dt" sz="half" idx="10"/>
          </p:nvPr>
        </p:nvSpPr>
        <p:spPr>
          <a:xfrm>
            <a:off x="61197" y="6510874"/>
            <a:ext cx="25400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AA62198B-8BF9-4689-99AA-B2BBFB632003}" type="datetime1">
              <a:rPr lang="zh-CN" altLang="en-US" smtClean="0"/>
            </a:fld>
            <a:endParaRPr lang="zh-CN" altLang="en-US"/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510874"/>
            <a:ext cx="38608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486467" y="6510874"/>
            <a:ext cx="644336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0"/>
          </p:nvPr>
        </p:nvSpPr>
        <p:spPr>
          <a:xfrm>
            <a:off x="61197" y="6510874"/>
            <a:ext cx="25400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33090183-46CC-4EB0-AC9D-E5AE69AA8774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510874"/>
            <a:ext cx="38608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486467" y="6510874"/>
            <a:ext cx="644336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>
          <a:xfrm>
            <a:off x="61197" y="6510874"/>
            <a:ext cx="25400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9979FF21-FEA1-462A-AD2A-B1F5CCA1F0F0}" type="datetime1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510874"/>
            <a:ext cx="38608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486467" y="6510874"/>
            <a:ext cx="644336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>
          <a:xfrm>
            <a:off x="61197" y="6510874"/>
            <a:ext cx="25400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6D094756-3141-485A-BAFB-4F62DF062E68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510874"/>
            <a:ext cx="38608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486467" y="6510874"/>
            <a:ext cx="644336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83367" y="344405"/>
            <a:ext cx="10265059" cy="5525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dirty="0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3365" y="1181409"/>
            <a:ext cx="11412736" cy="42484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 bwMode="auto">
          <a:xfrm>
            <a:off x="0" y="980728"/>
            <a:ext cx="12192000" cy="0"/>
          </a:xfrm>
          <a:prstGeom prst="line">
            <a:avLst/>
          </a:prstGeom>
          <a:ln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日期占位符 4"/>
          <p:cNvSpPr>
            <a:spLocks noGrp="1"/>
          </p:cNvSpPr>
          <p:nvPr>
            <p:ph type="dt" sz="half" idx="2"/>
          </p:nvPr>
        </p:nvSpPr>
        <p:spPr>
          <a:xfrm>
            <a:off x="61197" y="6510874"/>
            <a:ext cx="25400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69D44F43-FCF5-4353-A1B4-A51B97601CAE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4470400" y="6510874"/>
            <a:ext cx="3860800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86467" y="6510874"/>
            <a:ext cx="644336" cy="31287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 descr="黑白色的标志&#10;&#10;描述已自动生成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941" y="100417"/>
            <a:ext cx="1029051" cy="7717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 cap="none" spc="0" baseline="0">
          <a:ln>
            <a:noFill/>
          </a:ln>
          <a:solidFill>
            <a:schemeClr val="tx1"/>
          </a:solidFill>
          <a:effectLst/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Tx/>
        <a:buSzPct val="60000"/>
        <a:buFont typeface="Wingdings" panose="05000000000000000000" pitchFamily="2" charset="2"/>
        <a:buChar char="l"/>
        <a:defRPr kumimoji="1" lang="zh-CN" altLang="en-US" sz="2400" b="0" cap="none" spc="0" baseline="0" dirty="0" smtClean="0">
          <a:ln w="9000" cmpd="sng">
            <a:noFill/>
            <a:prstDash val="solid"/>
          </a:ln>
          <a:solidFill>
            <a:schemeClr val="tx1"/>
          </a:solidFill>
          <a:effectLst/>
          <a:latin typeface="Times New Roman" panose="02020603050405020304" pitchFamily="18" charset="0"/>
          <a:ea typeface="宋体" panose="02010600030101010101" pitchFamily="2" charset="-122"/>
          <a:cs typeface="微软雅黑" panose="020B0503020204020204" charset="-122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93FFF"/>
        </a:buClr>
        <a:buSzPct val="55000"/>
        <a:buFont typeface="Wingdings" panose="05000000000000000000" pitchFamily="2" charset="2"/>
        <a:buChar char="n"/>
        <a:defRPr kumimoji="1" lang="zh-CN" altLang="en-US" sz="2000" b="0" cap="none" spc="0" baseline="0" dirty="0" smtClean="0">
          <a:ln w="9000" cmpd="sng">
            <a:solidFill>
              <a:schemeClr val="tx1"/>
            </a:solidFill>
            <a:prstDash val="solid"/>
          </a:ln>
          <a:solidFill>
            <a:schemeClr val="tx1"/>
          </a:solidFill>
          <a:effectLst/>
          <a:latin typeface="Times New Roman" panose="02020603050405020304" pitchFamily="18" charset="0"/>
          <a:ea typeface="宋体" panose="02010600030101010101" pitchFamily="2" charset="-122"/>
          <a:cs typeface="微软雅黑" panose="020B0503020204020204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193FFF"/>
        </a:buClr>
        <a:buSzPct val="50000"/>
        <a:buFont typeface="Wingdings" panose="05000000000000000000" pitchFamily="2" charset="2"/>
        <a:buChar char="n"/>
        <a:defRPr kumimoji="1" lang="zh-CN" altLang="en-US" sz="2000" b="0" cap="none" spc="0" baseline="0" dirty="0" smtClean="0">
          <a:ln w="9000" cmpd="sng">
            <a:solidFill>
              <a:schemeClr val="tx1"/>
            </a:solidFill>
            <a:prstDash val="solid"/>
          </a:ln>
          <a:solidFill>
            <a:schemeClr val="tx1"/>
          </a:solidFill>
          <a:effectLst/>
          <a:latin typeface="Times New Roman" panose="02020603050405020304" pitchFamily="18" charset="0"/>
          <a:ea typeface="宋体" panose="02010600030101010101" pitchFamily="2" charset="-122"/>
          <a:cs typeface="微软雅黑" panose="020B0503020204020204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193FFF"/>
        </a:buClr>
        <a:buSzPct val="55000"/>
        <a:buFont typeface="Wingdings" panose="05000000000000000000" pitchFamily="2" charset="2"/>
        <a:buChar char="n"/>
        <a:defRPr kumimoji="1" lang="zh-CN" altLang="en-US" sz="2000" b="0" cap="none" spc="0" baseline="0" dirty="0" smtClean="0">
          <a:ln w="9000" cmpd="sng">
            <a:solidFill>
              <a:schemeClr val="tx1"/>
            </a:solidFill>
            <a:prstDash val="solid"/>
          </a:ln>
          <a:solidFill>
            <a:schemeClr val="tx1"/>
          </a:solidFill>
          <a:effectLst/>
          <a:latin typeface="Times New Roman" panose="02020603050405020304" pitchFamily="18" charset="0"/>
          <a:ea typeface="宋体" panose="02010600030101010101" pitchFamily="2" charset="-122"/>
          <a:cs typeface="微软雅黑" panose="020B0503020204020204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193FFF"/>
        </a:buClr>
        <a:buSzPct val="50000"/>
        <a:buFont typeface="Wingdings" panose="05000000000000000000" pitchFamily="2" charset="2"/>
        <a:buChar char="n"/>
        <a:defRPr kumimoji="1" lang="zh-CN" altLang="en-US" sz="2000" b="0" cap="none" spc="0" baseline="0" dirty="0" smtClean="0">
          <a:ln w="9000" cmpd="sng">
            <a:solidFill>
              <a:schemeClr val="tx1"/>
            </a:solidFill>
            <a:prstDash val="solid"/>
          </a:ln>
          <a:solidFill>
            <a:schemeClr val="tx1"/>
          </a:solidFill>
          <a:effectLst/>
          <a:latin typeface="Times New Roman" panose="02020603050405020304" pitchFamily="18" charset="0"/>
          <a:ea typeface="宋体" panose="02010600030101010101" pitchFamily="2" charset="-122"/>
          <a:cs typeface="微软雅黑" panose="020B050302020402020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tags" Target="../tags/tag13.xml"/><Relationship Id="rId18" Type="http://schemas.openxmlformats.org/officeDocument/2006/relationships/image" Target="../media/image12.svg"/><Relationship Id="rId17" Type="http://schemas.openxmlformats.org/officeDocument/2006/relationships/image" Target="../media/image11.png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tags" Target="../tags/tag17.xml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0" Type="http://schemas.openxmlformats.org/officeDocument/2006/relationships/notesSlide" Target="../notesSlides/notesSlide15.xml"/><Relationship Id="rId5" Type="http://schemas.openxmlformats.org/officeDocument/2006/relationships/tags" Target="../tags/tag30.xml"/><Relationship Id="rId49" Type="http://schemas.openxmlformats.org/officeDocument/2006/relationships/slideLayout" Target="../slideLayouts/slideLayout2.xml"/><Relationship Id="rId48" Type="http://schemas.openxmlformats.org/officeDocument/2006/relationships/tags" Target="../tags/tag73.xml"/><Relationship Id="rId47" Type="http://schemas.openxmlformats.org/officeDocument/2006/relationships/tags" Target="../tags/tag72.xml"/><Relationship Id="rId46" Type="http://schemas.openxmlformats.org/officeDocument/2006/relationships/tags" Target="../tags/tag71.xml"/><Relationship Id="rId45" Type="http://schemas.openxmlformats.org/officeDocument/2006/relationships/tags" Target="../tags/tag70.xml"/><Relationship Id="rId44" Type="http://schemas.openxmlformats.org/officeDocument/2006/relationships/tags" Target="../tags/tag69.xml"/><Relationship Id="rId43" Type="http://schemas.openxmlformats.org/officeDocument/2006/relationships/tags" Target="../tags/tag68.xml"/><Relationship Id="rId42" Type="http://schemas.openxmlformats.org/officeDocument/2006/relationships/tags" Target="../tags/tag67.xml"/><Relationship Id="rId41" Type="http://schemas.openxmlformats.org/officeDocument/2006/relationships/tags" Target="../tags/tag66.xml"/><Relationship Id="rId40" Type="http://schemas.openxmlformats.org/officeDocument/2006/relationships/tags" Target="../tags/tag65.xml"/><Relationship Id="rId4" Type="http://schemas.openxmlformats.org/officeDocument/2006/relationships/tags" Target="../tags/tag29.xml"/><Relationship Id="rId39" Type="http://schemas.openxmlformats.org/officeDocument/2006/relationships/tags" Target="../tags/tag64.xml"/><Relationship Id="rId38" Type="http://schemas.openxmlformats.org/officeDocument/2006/relationships/tags" Target="../tags/tag63.xml"/><Relationship Id="rId37" Type="http://schemas.openxmlformats.org/officeDocument/2006/relationships/tags" Target="../tags/tag62.xml"/><Relationship Id="rId36" Type="http://schemas.openxmlformats.org/officeDocument/2006/relationships/tags" Target="../tags/tag61.xml"/><Relationship Id="rId35" Type="http://schemas.openxmlformats.org/officeDocument/2006/relationships/tags" Target="../tags/tag60.xml"/><Relationship Id="rId34" Type="http://schemas.openxmlformats.org/officeDocument/2006/relationships/tags" Target="../tags/tag59.xml"/><Relationship Id="rId33" Type="http://schemas.openxmlformats.org/officeDocument/2006/relationships/tags" Target="../tags/tag58.xml"/><Relationship Id="rId32" Type="http://schemas.openxmlformats.org/officeDocument/2006/relationships/tags" Target="../tags/tag57.xml"/><Relationship Id="rId31" Type="http://schemas.openxmlformats.org/officeDocument/2006/relationships/tags" Target="../tags/tag56.xml"/><Relationship Id="rId30" Type="http://schemas.openxmlformats.org/officeDocument/2006/relationships/tags" Target="../tags/tag55.xml"/><Relationship Id="rId3" Type="http://schemas.openxmlformats.org/officeDocument/2006/relationships/tags" Target="../tags/tag28.xml"/><Relationship Id="rId29" Type="http://schemas.openxmlformats.org/officeDocument/2006/relationships/tags" Target="../tags/tag54.xml"/><Relationship Id="rId28" Type="http://schemas.openxmlformats.org/officeDocument/2006/relationships/tags" Target="../tags/tag53.xml"/><Relationship Id="rId27" Type="http://schemas.openxmlformats.org/officeDocument/2006/relationships/tags" Target="../tags/tag52.xml"/><Relationship Id="rId26" Type="http://schemas.openxmlformats.org/officeDocument/2006/relationships/tags" Target="../tags/tag51.xml"/><Relationship Id="rId25" Type="http://schemas.openxmlformats.org/officeDocument/2006/relationships/tags" Target="../tags/tag50.xml"/><Relationship Id="rId24" Type="http://schemas.openxmlformats.org/officeDocument/2006/relationships/tags" Target="../tags/tag49.xml"/><Relationship Id="rId23" Type="http://schemas.openxmlformats.org/officeDocument/2006/relationships/tags" Target="../tags/tag48.xml"/><Relationship Id="rId22" Type="http://schemas.openxmlformats.org/officeDocument/2006/relationships/tags" Target="../tags/tag47.xml"/><Relationship Id="rId21" Type="http://schemas.openxmlformats.org/officeDocument/2006/relationships/tags" Target="../tags/tag46.xml"/><Relationship Id="rId20" Type="http://schemas.openxmlformats.org/officeDocument/2006/relationships/tags" Target="../tags/tag45.xml"/><Relationship Id="rId2" Type="http://schemas.openxmlformats.org/officeDocument/2006/relationships/tags" Target="../tags/tag27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5556" y="508174"/>
            <a:ext cx="3816424" cy="840848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2FCE-1FC3-407A-97DA-9098278E1DE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7"/>
          <p:cNvGraphicFramePr>
            <a:graphicFrameLocks noGrp="1"/>
          </p:cNvGraphicFramePr>
          <p:nvPr/>
        </p:nvGraphicFramePr>
        <p:xfrm>
          <a:off x="4084828" y="4978226"/>
          <a:ext cx="401787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114"/>
                <a:gridCol w="297257"/>
                <a:gridCol w="2143506"/>
              </a:tblGrid>
              <a:tr h="37084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学生姓名</a:t>
                      </a:r>
                      <a:endParaRPr lang="en-US" altLang="zh-CN" sz="24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郭俊杰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学号</a:t>
                      </a:r>
                      <a:endParaRPr lang="en-US" altLang="zh-CN" sz="11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22371240</a:t>
                      </a:r>
                      <a:endParaRPr lang="en-US" altLang="zh-CN" sz="24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指导教师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吴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际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AutoShape 3"/>
          <p:cNvSpPr/>
          <p:nvPr/>
        </p:nvSpPr>
        <p:spPr>
          <a:xfrm>
            <a:off x="1229995" y="1888490"/>
            <a:ext cx="1002919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面向深度学习系统模糊测试的测试用例智能管理与分析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899" y="1044400"/>
            <a:ext cx="11412736" cy="49724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研究目标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工作进展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的问题</a:t>
            </a:r>
            <a:endParaRPr lang="zh-CN" altLang="en-US" sz="2800" dirty="0">
              <a:ln w="9000" cmpd="sng">
                <a:noFill/>
                <a:prstDash val="solid"/>
              </a:ln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AI框架的重要性与隐蔽缺陷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365" y="1208475"/>
            <a:ext cx="11412736" cy="5314122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深度学习框架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人工智能领域的基石，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其稳定性直接决定了上层应用的可靠性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框架的复杂性导致大量隐蔽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内部逻辑缺陷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 bwMode="auto">
          <a:xfrm>
            <a:off x="2452370" y="5621655"/>
            <a:ext cx="7274560" cy="4889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针对性的自动化测试与验证方案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110" y="3114040"/>
            <a:ext cx="11016615" cy="1822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研究背景：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模糊测试的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引入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540" y="1208405"/>
            <a:ext cx="9203055" cy="221488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模糊测试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通过算法高频生成包含极端边界状态的计算图脚本</a:t>
            </a:r>
            <a:endParaRPr lang="zh-CN" altLang="en-US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全天候执行，强制触发非预期执行流，主动暴露隐蔽漏洞</a:t>
            </a:r>
            <a:endParaRPr lang="zh-CN" altLang="en-US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865" y="3423285"/>
            <a:ext cx="1105027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研究背景：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模糊测试的三大核心痛点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383540" y="1196340"/>
            <a:ext cx="4094480" cy="53143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l"/>
              <a:defRPr kumimoji="1" lang="zh-CN" altLang="en-US" sz="2400" b="0" cap="none" spc="0" baseline="0" dirty="0" smtClean="0">
                <a:ln w="9000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55000"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55000"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模糊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测试存在的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检索与定位困难，产生大量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复杂的日志信息，难以快速找到问题根源。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模糊测试的变异策略倾向于在已知的路径附近进行，导致陷入局部最优，无法发现新的漏洞。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测试用例效能评估维度单一，大量低价值的测试用例浪费计算资源。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1929765"/>
            <a:ext cx="6972935" cy="3402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研究目标：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测试用例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智能管理与分析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sp>
        <p:nvSpPr>
          <p:cNvPr id="21" name="AutoShape 6"/>
          <p:cNvSpPr/>
          <p:nvPr>
            <p:custDataLst>
              <p:tags r:id="rId1"/>
            </p:custDataLst>
          </p:nvPr>
        </p:nvSpPr>
        <p:spPr>
          <a:xfrm>
            <a:off x="381000" y="1778000"/>
            <a:ext cx="3556000" cy="3302000"/>
          </a:xfrm>
          <a:prstGeom prst="roundRect">
            <a:avLst>
              <a:gd name="adj" fmla="val 461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2032000"/>
            <a:ext cx="609600" cy="609600"/>
          </a:xfrm>
          <a:prstGeom prst="rect">
            <a:avLst/>
          </a:prstGeom>
        </p:spPr>
      </p:pic>
      <p:sp>
        <p:nvSpPr>
          <p:cNvPr id="23" name="AutoShape 8"/>
          <p:cNvSpPr/>
          <p:nvPr>
            <p:custDataLst>
              <p:tags r:id="rId5"/>
            </p:custDataLst>
          </p:nvPr>
        </p:nvSpPr>
        <p:spPr>
          <a:xfrm>
            <a:off x="1397000" y="2095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异构存储</a:t>
            </a:r>
            <a:endParaRPr lang="en-US" sz="1100"/>
          </a:p>
        </p:txBody>
      </p:sp>
      <p:cxnSp>
        <p:nvCxnSpPr>
          <p:cNvPr id="24" name="Connector 9"/>
          <p:cNvCxnSpPr/>
          <p:nvPr>
            <p:custDataLst>
              <p:tags r:id="rId6"/>
            </p:custDataLst>
          </p:nvPr>
        </p:nvCxnSpPr>
        <p:spPr>
          <a:xfrm rot="-14323">
            <a:off x="6350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10"/>
          <p:cNvSpPr/>
          <p:nvPr>
            <p:custDataLst>
              <p:tags r:id="rId7"/>
            </p:custDataLst>
          </p:nvPr>
        </p:nvSpPr>
        <p:spPr>
          <a:xfrm>
            <a:off x="635000" y="3175000"/>
            <a:ext cx="3048000" cy="19608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构建基于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MySQL 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Milvus 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协同的异构存储架构，</a:t>
            </a:r>
            <a:r>
              <a:rPr lang="en-US" sz="16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统一管理结构化与非结构化数据</a:t>
            </a:r>
            <a:r>
              <a:rPr lang="zh-CN" altLang="en-US" sz="16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解决高维语义数据的检索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问题</a:t>
            </a:r>
            <a:endParaRPr lang="zh-CN" altLang="en-US" sz="16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Shape 11"/>
          <p:cNvSpPr/>
          <p:nvPr>
            <p:custDataLst>
              <p:tags r:id="rId8"/>
            </p:custDataLst>
          </p:nvPr>
        </p:nvSpPr>
        <p:spPr>
          <a:xfrm>
            <a:off x="4318000" y="1778000"/>
            <a:ext cx="3556000" cy="3302000"/>
          </a:xfrm>
          <a:prstGeom prst="roundRect">
            <a:avLst>
              <a:gd name="adj" fmla="val 4615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D1FA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2032000"/>
            <a:ext cx="609600" cy="609600"/>
          </a:xfrm>
          <a:prstGeom prst="rect">
            <a:avLst/>
          </a:prstGeom>
        </p:spPr>
      </p:pic>
      <p:sp>
        <p:nvSpPr>
          <p:cNvPr id="28" name="AutoShape 13"/>
          <p:cNvSpPr/>
          <p:nvPr>
            <p:custDataLst>
              <p:tags r:id="rId12"/>
            </p:custDataLst>
          </p:nvPr>
        </p:nvSpPr>
        <p:spPr>
          <a:xfrm>
            <a:off x="5334000" y="2095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多样性监测与量化</a:t>
            </a:r>
            <a:endParaRPr lang="en-US" sz="1100"/>
          </a:p>
        </p:txBody>
      </p:sp>
      <p:cxnSp>
        <p:nvCxnSpPr>
          <p:cNvPr id="29" name="Connector 14"/>
          <p:cNvCxnSpPr/>
          <p:nvPr>
            <p:custDataLst>
              <p:tags r:id="rId13"/>
            </p:custDataLst>
          </p:nvPr>
        </p:nvCxnSpPr>
        <p:spPr>
          <a:xfrm rot="-14323">
            <a:off x="45720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15"/>
          <p:cNvSpPr/>
          <p:nvPr>
            <p:custDataLst>
              <p:tags r:id="rId14"/>
            </p:custDataLst>
          </p:nvPr>
        </p:nvSpPr>
        <p:spPr>
          <a:xfrm>
            <a:off x="4572000" y="3175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160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建立用例多样性监测与覆盖效能指数（CEI）评估模型，实现对低价值用例的精准过滤</a:t>
            </a:r>
            <a:endParaRPr lang="en-US" altLang="zh-CN" sz="160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AutoShape 16"/>
          <p:cNvSpPr/>
          <p:nvPr>
            <p:custDataLst>
              <p:tags r:id="rId15"/>
            </p:custDataLst>
          </p:nvPr>
        </p:nvSpPr>
        <p:spPr>
          <a:xfrm>
            <a:off x="8255000" y="1778000"/>
            <a:ext cx="3556000" cy="3302000"/>
          </a:xfrm>
          <a:prstGeom prst="roundRect">
            <a:avLst>
              <a:gd name="adj" fmla="val 4615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09000" y="2032000"/>
            <a:ext cx="609600" cy="609600"/>
          </a:xfrm>
          <a:prstGeom prst="rect">
            <a:avLst/>
          </a:prstGeom>
        </p:spPr>
      </p:pic>
      <p:sp>
        <p:nvSpPr>
          <p:cNvPr id="33" name="AutoShape 18"/>
          <p:cNvSpPr/>
          <p:nvPr>
            <p:custDataLst>
              <p:tags r:id="rId19"/>
            </p:custDataLst>
          </p:nvPr>
        </p:nvSpPr>
        <p:spPr>
          <a:xfrm>
            <a:off x="9271000" y="2095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语义诊断与自动补盲</a:t>
            </a:r>
            <a:endParaRPr lang="en-US" sz="1100"/>
          </a:p>
        </p:txBody>
      </p:sp>
      <p:cxnSp>
        <p:nvCxnSpPr>
          <p:cNvPr id="34" name="Connector 19"/>
          <p:cNvCxnSpPr/>
          <p:nvPr>
            <p:custDataLst>
              <p:tags r:id="rId20"/>
            </p:custDataLst>
          </p:nvPr>
        </p:nvCxnSpPr>
        <p:spPr>
          <a:xfrm rot="-14323">
            <a:off x="85090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20"/>
          <p:cNvSpPr/>
          <p:nvPr>
            <p:custDataLst>
              <p:tags r:id="rId21"/>
            </p:custDataLst>
          </p:nvPr>
        </p:nvSpPr>
        <p:spPr>
          <a:xfrm>
            <a:off x="8509000" y="3175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构建“特征分析 → 效能评估 → 定向生成”的智能闭环，利用大模型能力实现测试问题的自动诊断与用例的智能补全。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工作进展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540" y="1196975"/>
            <a:ext cx="5408295" cy="4214495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日志解析与故障定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已完成）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LogParser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模块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自动过滤冗余信息，提取核心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异常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支持8种高频框架错误的解析，将其标准化为JSON格式</a:t>
            </a:r>
            <a:endParaRPr 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FaultLocator 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模块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根据计算图的拓扑结构，逆向追踪定位导致崩溃的可疑算子</a:t>
            </a:r>
            <a:r>
              <a:rPr 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，并输出对应的置信度评分，降低人工排查成本。</a:t>
            </a:r>
            <a:endParaRPr lang="en-US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835" y="1072515"/>
            <a:ext cx="4026535" cy="5438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工作进展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540" y="1196975"/>
            <a:ext cx="11412855" cy="347980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异构数据输入与存储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已完成）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针对模糊测试的海量数据，利用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Python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的异步协程技术进行了流量削峰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拆分数据，向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MySQL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（结构化元数据）与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Milvus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（高维特征向量）并发入库。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sz="20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3656330"/>
            <a:ext cx="10803255" cy="172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工作进展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540" y="1196975"/>
            <a:ext cx="3810000" cy="474091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多样性分析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已完成）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利用主成分分析算法，将稠密语义向量投射至二维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平面。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依据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密集区域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确定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变异引擎的同质化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数据生成区域。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依据“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稀疏区域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”确定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算子探索缺口，为后续定向优化提供可视化依据。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8285" y="1371600"/>
            <a:ext cx="8072755" cy="40239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工作进展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540" y="1196975"/>
            <a:ext cx="4065270" cy="5314315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LLM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驱动的</a:t>
            </a: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辅助诊断</a:t>
            </a: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（已完成）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当捕获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异常信息时，利用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Milvus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向量库精准召回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Top-K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相似的历史参照用例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将堆栈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信息与召回测例特征组装，注入大模型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提示词，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克服通用大模型的专业领域幻觉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8360" y="1196975"/>
            <a:ext cx="6851650" cy="5240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工作进展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540" y="1026160"/>
            <a:ext cx="6469380" cy="519938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LLM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驱动的动态补盲</a:t>
            </a: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（已完成）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基于全局算子流转热力图，精准提取未被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引擎探测的算子组合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将空缺算子对转换为强规格约束提示词，驱动大模型输出针对性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的测试用例。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3429000"/>
            <a:ext cx="5720080" cy="30816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920" y="1826260"/>
            <a:ext cx="4838065" cy="439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工作进展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540" y="1196975"/>
            <a:ext cx="5887085" cy="850265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CEI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的动态筛选及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其验证</a:t>
            </a: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（已完成）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581025" y="2046605"/>
            <a:ext cx="3840480" cy="763905"/>
          </a:xfrm>
          <a:prstGeom prst="rect">
            <a:avLst/>
          </a:prstGeom>
        </p:spPr>
      </p:pic>
      <p:sp>
        <p:nvSpPr>
          <p:cNvPr id="15" name="AutoShape 10"/>
          <p:cNvSpPr/>
          <p:nvPr/>
        </p:nvSpPr>
        <p:spPr>
          <a:xfrm>
            <a:off x="443230" y="3157220"/>
            <a:ext cx="4116705" cy="3210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63500" rIns="88900" bIns="635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核心定义：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以代码分支覆盖增量为分子，以算子加权耗时为分母，量化评估用例的</a:t>
            </a:r>
            <a:r>
              <a:rPr lang="en-US" altLang="zh-CN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投入产出比</a:t>
            </a:r>
            <a:r>
              <a:rPr lang="en-US" altLang="zh-CN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”</a:t>
            </a:r>
            <a:endParaRPr lang="en-US" altLang="zh-CN" sz="16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实验验证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：利用</a:t>
            </a:r>
            <a:r>
              <a:rPr lang="en-US" altLang="zh-CN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Gcov 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编译带有</a:t>
            </a:r>
            <a:r>
              <a:rPr lang="en-US" altLang="zh-CN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C++ 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探针的</a:t>
            </a:r>
            <a:r>
              <a:rPr lang="en-US" altLang="zh-CN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PyTorch 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引擎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，获取真实的</a:t>
            </a:r>
            <a:r>
              <a:rPr lang="en-US" altLang="zh-CN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C++ 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物理行覆盖率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600"/>
          </a:p>
          <a:p>
            <a:pPr indent="0" algn="l">
              <a:lnSpc>
                <a:spcPct val="125000"/>
              </a:lnSpc>
            </a:pPr>
            <a:r>
              <a:rPr lang="zh-CN" alt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实验结果：</a:t>
            </a:r>
            <a:endParaRPr lang="zh-CN" altLang="en-US" sz="16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代码覆盖率几乎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不变（仅下降</a:t>
            </a:r>
            <a:r>
              <a:rPr lang="en-US" altLang="zh-CN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5 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行）</a:t>
            </a:r>
            <a:endParaRPr lang="en-US" altLang="zh-CN" sz="16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执行耗时缩减</a:t>
            </a:r>
            <a:r>
              <a:rPr lang="en-US" altLang="zh-CN" sz="16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34.5%</a:t>
            </a:r>
            <a:endParaRPr lang="en-US" altLang="zh-CN" sz="16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505" y="1857375"/>
            <a:ext cx="7234555" cy="4322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存在的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sp>
        <p:nvSpPr>
          <p:cNvPr id="7" name="AutoShape 5"/>
          <p:cNvSpPr/>
          <p:nvPr>
            <p:custDataLst>
              <p:tags r:id="rId1"/>
            </p:custDataLst>
          </p:nvPr>
        </p:nvSpPr>
        <p:spPr>
          <a:xfrm>
            <a:off x="381000" y="1524000"/>
            <a:ext cx="5461000" cy="4318000"/>
          </a:xfrm>
          <a:prstGeom prst="roundRect">
            <a:avLst>
              <a:gd name="adj" fmla="val 3529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1778000"/>
            <a:ext cx="711200" cy="711200"/>
          </a:xfrm>
          <a:prstGeom prst="rect">
            <a:avLst/>
          </a:prstGeom>
        </p:spPr>
      </p:pic>
      <p:sp>
        <p:nvSpPr>
          <p:cNvPr id="9" name="AutoShape 7"/>
          <p:cNvSpPr/>
          <p:nvPr>
            <p:custDataLst>
              <p:tags r:id="rId5"/>
            </p:custDataLst>
          </p:nvPr>
        </p:nvSpPr>
        <p:spPr>
          <a:xfrm>
            <a:off x="1524000" y="18415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检索模块的召回偏差</a:t>
            </a:r>
            <a:endParaRPr lang="en-US" sz="24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8"/>
          <p:cNvSpPr/>
          <p:nvPr>
            <p:custDataLst>
              <p:tags r:id="rId6"/>
            </p:custDataLst>
          </p:nvPr>
        </p:nvSpPr>
        <p:spPr>
          <a:xfrm>
            <a:off x="635000" y="2667000"/>
            <a:ext cx="4953000" cy="254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9"/>
          <p:cNvSpPr/>
          <p:nvPr>
            <p:custDataLst>
              <p:tags r:id="rId7"/>
            </p:custDataLst>
          </p:nvPr>
        </p:nvSpPr>
        <p:spPr>
          <a:xfrm>
            <a:off x="635000" y="2921000"/>
            <a:ext cx="4953000" cy="2118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部分深层逻辑异常与常规配置错误的调用栈信息语义相似</a:t>
            </a:r>
            <a:endParaRPr lang="en-US" sz="16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单一向量检索方法容易出现召回偏差，无法精准区分故障根因，降低了诊断的准确率。</a:t>
            </a:r>
            <a:endParaRPr lang="en-US" sz="1600"/>
          </a:p>
        </p:txBody>
      </p:sp>
      <p:sp>
        <p:nvSpPr>
          <p:cNvPr id="12" name="AutoShape 10"/>
          <p:cNvSpPr/>
          <p:nvPr>
            <p:custDataLst>
              <p:tags r:id="rId8"/>
            </p:custDataLst>
          </p:nvPr>
        </p:nvSpPr>
        <p:spPr>
          <a:xfrm>
            <a:off x="6223000" y="1524000"/>
            <a:ext cx="5461000" cy="4318000"/>
          </a:xfrm>
          <a:prstGeom prst="roundRect">
            <a:avLst>
              <a:gd name="adj" fmla="val 3529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1778000"/>
            <a:ext cx="711200" cy="711200"/>
          </a:xfrm>
          <a:prstGeom prst="rect">
            <a:avLst/>
          </a:prstGeom>
        </p:spPr>
      </p:pic>
      <p:sp>
        <p:nvSpPr>
          <p:cNvPr id="14" name="AutoShape 12"/>
          <p:cNvSpPr/>
          <p:nvPr>
            <p:custDataLst>
              <p:tags r:id="rId12"/>
            </p:custDataLst>
          </p:nvPr>
        </p:nvSpPr>
        <p:spPr>
          <a:xfrm>
            <a:off x="7366000" y="18415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生成代码的合规性风险</a:t>
            </a:r>
            <a:endParaRPr lang="en-US" sz="20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13"/>
          <p:cNvSpPr/>
          <p:nvPr>
            <p:custDataLst>
              <p:tags r:id="rId13"/>
            </p:custDataLst>
          </p:nvPr>
        </p:nvSpPr>
        <p:spPr>
          <a:xfrm>
            <a:off x="6477000" y="2667000"/>
            <a:ext cx="4953000" cy="254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>
            <p:custDataLst>
              <p:tags r:id="rId14"/>
            </p:custDataLst>
          </p:nvPr>
        </p:nvSpPr>
        <p:spPr>
          <a:xfrm>
            <a:off x="6477000" y="2921000"/>
            <a:ext cx="495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t" anchorCtr="0"/>
          <a:lstStyle/>
          <a:p>
            <a:pPr algn="l">
              <a:lnSpc>
                <a:spcPct val="133000"/>
              </a:lnSpc>
              <a:buClrTx/>
              <a:buSzTx/>
              <a:buNone/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大模型在自动生成测试代码时，偶尔会产出包含废弃API调用、参数维度冲突或语法错误的代码</a:t>
            </a:r>
            <a:endParaRPr lang="en-US" sz="16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l">
              <a:lnSpc>
                <a:spcPct val="133000"/>
              </a:lnSpc>
              <a:buClrTx/>
              <a:buSzTx/>
              <a:buNone/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自动化测试脚本执行中断</a:t>
            </a:r>
            <a:endParaRPr lang="en-US" sz="16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后续进度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安排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4870" y="1196975"/>
            <a:ext cx="4502785" cy="5313045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差分比对机制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从特征空间内同步召回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同构成功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同构失败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的对比样本。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对执行链路中的底层张量进行逐层求差比对，通过差异特征定位引发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失败的关键参数边界。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将分析结果转化为可量化的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框架运行安全阈值。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6145530" y="1197610"/>
            <a:ext cx="4502785" cy="5313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l"/>
              <a:defRPr kumimoji="1" lang="zh-CN" altLang="en-US" sz="2400" b="0" cap="none" spc="0" baseline="0" dirty="0" smtClean="0">
                <a:ln w="9000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55000"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55000"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defRPr kumimoji="1" lang="zh-CN" altLang="en-US" sz="2000" b="0" cap="none" spc="0" baseline="0" dirty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合规校验沙箱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增设了静态校验沙箱，在脚本入库前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通过抽象语法树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静态分析，强制过滤废弃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API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与语法错误。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仅允许通过合规性校验的用例进入测试池，减少无效算力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的损耗。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进度安排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3"/>
          <p:cNvSpPr/>
          <p:nvPr>
            <p:custDataLst>
              <p:tags r:id="rId1"/>
            </p:custDataLst>
          </p:nvPr>
        </p:nvSpPr>
        <p:spPr>
          <a:xfrm>
            <a:off x="508000" y="1143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4"/>
          <p:cNvSpPr/>
          <p:nvPr>
            <p:custDataLst>
              <p:tags r:id="rId2"/>
            </p:custDataLst>
          </p:nvPr>
        </p:nvSpPr>
        <p:spPr>
          <a:xfrm>
            <a:off x="698500" y="1333500"/>
            <a:ext cx="1397000" cy="1270000"/>
          </a:xfrm>
          <a:prstGeom prst="roundRect">
            <a:avLst>
              <a:gd name="adj" fmla="val 1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5"/>
          <p:cNvSpPr/>
          <p:nvPr>
            <p:custDataLst>
              <p:tags r:id="rId3"/>
            </p:custDataLst>
          </p:nvPr>
        </p:nvSpPr>
        <p:spPr>
          <a:xfrm>
            <a:off x="698500" y="1587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01</a:t>
            </a:r>
            <a:endParaRPr lang="en-US" sz="1100"/>
          </a:p>
        </p:txBody>
      </p:sp>
      <p:sp>
        <p:nvSpPr>
          <p:cNvPr id="10" name="AutoShape 7"/>
          <p:cNvSpPr/>
          <p:nvPr>
            <p:custDataLst>
              <p:tags r:id="rId4"/>
            </p:custDataLst>
          </p:nvPr>
        </p:nvSpPr>
        <p:spPr>
          <a:xfrm>
            <a:off x="2286000" y="1333500"/>
            <a:ext cx="3429000" cy="698500"/>
          </a:xfrm>
          <a:prstGeom prst="roundRect">
            <a:avLst>
              <a:gd name="adj" fmla="val 14545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8"/>
          <p:cNvSpPr/>
          <p:nvPr>
            <p:custDataLst>
              <p:tags r:id="rId5"/>
            </p:custDataLst>
          </p:nvPr>
        </p:nvSpPr>
        <p:spPr>
          <a:xfrm>
            <a:off x="2413000" y="1397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▎核心任务</a:t>
            </a:r>
            <a:endParaRPr lang="en-US" sz="1100"/>
          </a:p>
        </p:txBody>
      </p:sp>
      <p:sp>
        <p:nvSpPr>
          <p:cNvPr id="12" name="AutoShape 9"/>
          <p:cNvSpPr/>
          <p:nvPr>
            <p:custDataLst>
              <p:tags r:id="rId6"/>
            </p:custDataLst>
          </p:nvPr>
        </p:nvSpPr>
        <p:spPr>
          <a:xfrm>
            <a:off x="2413000" y="1714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开发基于执行状态标签的差分向量检索接口</a:t>
            </a:r>
            <a:endParaRPr lang="en-US" sz="1100"/>
          </a:p>
        </p:txBody>
      </p:sp>
      <p:sp>
        <p:nvSpPr>
          <p:cNvPr id="13" name="AutoShape 10"/>
          <p:cNvSpPr/>
          <p:nvPr>
            <p:custDataLst>
              <p:tags r:id="rId7"/>
            </p:custDataLst>
          </p:nvPr>
        </p:nvSpPr>
        <p:spPr>
          <a:xfrm>
            <a:off x="2286000" y="2095500"/>
            <a:ext cx="3429000" cy="571500"/>
          </a:xfrm>
          <a:prstGeom prst="roundRect">
            <a:avLst>
              <a:gd name="adj" fmla="val 17777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1"/>
          <p:cNvSpPr/>
          <p:nvPr>
            <p:custDataLst>
              <p:tags r:id="rId8"/>
            </p:custDataLst>
          </p:nvPr>
        </p:nvSpPr>
        <p:spPr>
          <a:xfrm>
            <a:off x="2413000" y="2159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▎预期产出：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差分检索API接口</a:t>
            </a:r>
            <a:endParaRPr lang="en-US" sz="1100"/>
          </a:p>
        </p:txBody>
      </p:sp>
      <p:sp>
        <p:nvSpPr>
          <p:cNvPr id="16" name="AutoShape 12"/>
          <p:cNvSpPr/>
          <p:nvPr>
            <p:custDataLst>
              <p:tags r:id="rId9"/>
            </p:custDataLst>
          </p:nvPr>
        </p:nvSpPr>
        <p:spPr>
          <a:xfrm>
            <a:off x="508000" y="3048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3"/>
          <p:cNvSpPr/>
          <p:nvPr>
            <p:custDataLst>
              <p:tags r:id="rId10"/>
            </p:custDataLst>
          </p:nvPr>
        </p:nvSpPr>
        <p:spPr>
          <a:xfrm>
            <a:off x="698500" y="3238500"/>
            <a:ext cx="1397000" cy="1270000"/>
          </a:xfrm>
          <a:prstGeom prst="roundRect">
            <a:avLst>
              <a:gd name="adj" fmla="val 1000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4"/>
          <p:cNvSpPr/>
          <p:nvPr>
            <p:custDataLst>
              <p:tags r:id="rId11"/>
            </p:custDataLst>
          </p:nvPr>
        </p:nvSpPr>
        <p:spPr>
          <a:xfrm>
            <a:off x="698500" y="3492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02</a:t>
            </a:r>
            <a:endParaRPr lang="en-US" sz="1100"/>
          </a:p>
        </p:txBody>
      </p:sp>
      <p:sp>
        <p:nvSpPr>
          <p:cNvPr id="20" name="AutoShape 16"/>
          <p:cNvSpPr/>
          <p:nvPr>
            <p:custDataLst>
              <p:tags r:id="rId12"/>
            </p:custDataLst>
          </p:nvPr>
        </p:nvSpPr>
        <p:spPr>
          <a:xfrm>
            <a:off x="2286000" y="3238500"/>
            <a:ext cx="3429000" cy="698500"/>
          </a:xfrm>
          <a:prstGeom prst="roundRect">
            <a:avLst>
              <a:gd name="adj" fmla="val 14545"/>
            </a:avLst>
          </a:prstGeom>
          <a:solidFill>
            <a:srgbClr val="EE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17"/>
          <p:cNvSpPr/>
          <p:nvPr>
            <p:custDataLst>
              <p:tags r:id="rId13"/>
            </p:custDataLst>
          </p:nvPr>
        </p:nvSpPr>
        <p:spPr>
          <a:xfrm>
            <a:off x="2413000" y="3302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F46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▎核心任务</a:t>
            </a:r>
            <a:endParaRPr lang="en-US" sz="1100"/>
          </a:p>
        </p:txBody>
      </p:sp>
      <p:sp>
        <p:nvSpPr>
          <p:cNvPr id="28" name="AutoShape 18"/>
          <p:cNvSpPr/>
          <p:nvPr>
            <p:custDataLst>
              <p:tags r:id="rId14"/>
            </p:custDataLst>
          </p:nvPr>
        </p:nvSpPr>
        <p:spPr>
          <a:xfrm>
            <a:off x="2413000" y="3619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设计并实现底层网络构建与张量求差算法</a:t>
            </a:r>
            <a:endParaRPr lang="en-US" sz="1100"/>
          </a:p>
        </p:txBody>
      </p:sp>
      <p:sp>
        <p:nvSpPr>
          <p:cNvPr id="29" name="AutoShape 19"/>
          <p:cNvSpPr/>
          <p:nvPr>
            <p:custDataLst>
              <p:tags r:id="rId15"/>
            </p:custDataLst>
          </p:nvPr>
        </p:nvSpPr>
        <p:spPr>
          <a:xfrm>
            <a:off x="2286000" y="4000500"/>
            <a:ext cx="3429000" cy="571500"/>
          </a:xfrm>
          <a:prstGeom prst="roundRect">
            <a:avLst>
              <a:gd name="adj" fmla="val 17777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20"/>
          <p:cNvSpPr/>
          <p:nvPr>
            <p:custDataLst>
              <p:tags r:id="rId16"/>
            </p:custDataLst>
          </p:nvPr>
        </p:nvSpPr>
        <p:spPr>
          <a:xfrm>
            <a:off x="2413000" y="4064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▎预期产出：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</a:t>
            </a:r>
            <a:r>
              <a:rPr lang="zh-CN" alt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分对比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</a:t>
            </a:r>
            <a:endParaRPr lang="en-US" sz="1100"/>
          </a:p>
        </p:txBody>
      </p:sp>
      <p:sp>
        <p:nvSpPr>
          <p:cNvPr id="31" name="AutoShape 21"/>
          <p:cNvSpPr/>
          <p:nvPr>
            <p:custDataLst>
              <p:tags r:id="rId17"/>
            </p:custDataLst>
          </p:nvPr>
        </p:nvSpPr>
        <p:spPr>
          <a:xfrm>
            <a:off x="508000" y="4953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22"/>
          <p:cNvSpPr/>
          <p:nvPr>
            <p:custDataLst>
              <p:tags r:id="rId18"/>
            </p:custDataLst>
          </p:nvPr>
        </p:nvSpPr>
        <p:spPr>
          <a:xfrm>
            <a:off x="698500" y="5143500"/>
            <a:ext cx="1397000" cy="1270000"/>
          </a:xfrm>
          <a:prstGeom prst="roundRect">
            <a:avLst>
              <a:gd name="adj" fmla="val 1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23"/>
          <p:cNvSpPr/>
          <p:nvPr>
            <p:custDataLst>
              <p:tags r:id="rId19"/>
            </p:custDataLst>
          </p:nvPr>
        </p:nvSpPr>
        <p:spPr>
          <a:xfrm>
            <a:off x="698500" y="5397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03</a:t>
            </a:r>
            <a:endParaRPr lang="en-US" sz="1100"/>
          </a:p>
        </p:txBody>
      </p:sp>
      <p:sp>
        <p:nvSpPr>
          <p:cNvPr id="35" name="AutoShape 25"/>
          <p:cNvSpPr/>
          <p:nvPr>
            <p:custDataLst>
              <p:tags r:id="rId20"/>
            </p:custDataLst>
          </p:nvPr>
        </p:nvSpPr>
        <p:spPr>
          <a:xfrm>
            <a:off x="2286000" y="5143500"/>
            <a:ext cx="3429000" cy="698500"/>
          </a:xfrm>
          <a:prstGeom prst="roundRect">
            <a:avLst>
              <a:gd name="adj" fmla="val 14545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26"/>
          <p:cNvSpPr/>
          <p:nvPr>
            <p:custDataLst>
              <p:tags r:id="rId21"/>
            </p:custDataLst>
          </p:nvPr>
        </p:nvSpPr>
        <p:spPr>
          <a:xfrm>
            <a:off x="2413000" y="5207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C3AE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▎核心任务</a:t>
            </a:r>
            <a:endParaRPr lang="en-US" sz="1100"/>
          </a:p>
        </p:txBody>
      </p:sp>
      <p:sp>
        <p:nvSpPr>
          <p:cNvPr id="37" name="AutoShape 27"/>
          <p:cNvSpPr/>
          <p:nvPr>
            <p:custDataLst>
              <p:tags r:id="rId22"/>
            </p:custDataLst>
          </p:nvPr>
        </p:nvSpPr>
        <p:spPr>
          <a:xfrm>
            <a:off x="2413000" y="5524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实现LLM补盲脚本AST校验</a:t>
            </a:r>
            <a:endParaRPr lang="en-US" sz="1100"/>
          </a:p>
        </p:txBody>
      </p:sp>
      <p:sp>
        <p:nvSpPr>
          <p:cNvPr id="38" name="AutoShape 28"/>
          <p:cNvSpPr/>
          <p:nvPr>
            <p:custDataLst>
              <p:tags r:id="rId23"/>
            </p:custDataLst>
          </p:nvPr>
        </p:nvSpPr>
        <p:spPr>
          <a:xfrm>
            <a:off x="2286000" y="5905500"/>
            <a:ext cx="3429000" cy="571500"/>
          </a:xfrm>
          <a:prstGeom prst="roundRect">
            <a:avLst>
              <a:gd name="adj" fmla="val 17777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29"/>
          <p:cNvSpPr/>
          <p:nvPr>
            <p:custDataLst>
              <p:tags r:id="rId24"/>
            </p:custDataLst>
          </p:nvPr>
        </p:nvSpPr>
        <p:spPr>
          <a:xfrm>
            <a:off x="2413000" y="5969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▎预期产出：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代码校验沙箱</a:t>
            </a:r>
            <a:endParaRPr lang="en-US" sz="1100"/>
          </a:p>
        </p:txBody>
      </p:sp>
      <p:sp>
        <p:nvSpPr>
          <p:cNvPr id="40" name="AutoShape 30"/>
          <p:cNvSpPr/>
          <p:nvPr>
            <p:custDataLst>
              <p:tags r:id="rId25"/>
            </p:custDataLst>
          </p:nvPr>
        </p:nvSpPr>
        <p:spPr>
          <a:xfrm>
            <a:off x="6223000" y="1143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31"/>
          <p:cNvSpPr/>
          <p:nvPr>
            <p:custDataLst>
              <p:tags r:id="rId26"/>
            </p:custDataLst>
          </p:nvPr>
        </p:nvSpPr>
        <p:spPr>
          <a:xfrm>
            <a:off x="6413500" y="1333500"/>
            <a:ext cx="1397000" cy="1270000"/>
          </a:xfrm>
          <a:prstGeom prst="roundRect">
            <a:avLst>
              <a:gd name="adj" fmla="val 1000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32"/>
          <p:cNvSpPr/>
          <p:nvPr>
            <p:custDataLst>
              <p:tags r:id="rId27"/>
            </p:custDataLst>
          </p:nvPr>
        </p:nvSpPr>
        <p:spPr>
          <a:xfrm>
            <a:off x="6413500" y="1587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04</a:t>
            </a:r>
            <a:endParaRPr lang="en-US" sz="1100"/>
          </a:p>
        </p:txBody>
      </p:sp>
      <p:sp>
        <p:nvSpPr>
          <p:cNvPr id="44" name="AutoShape 34"/>
          <p:cNvSpPr/>
          <p:nvPr>
            <p:custDataLst>
              <p:tags r:id="rId28"/>
            </p:custDataLst>
          </p:nvPr>
        </p:nvSpPr>
        <p:spPr>
          <a:xfrm>
            <a:off x="8001000" y="1333500"/>
            <a:ext cx="3429000" cy="698500"/>
          </a:xfrm>
          <a:prstGeom prst="roundRect">
            <a:avLst>
              <a:gd name="adj" fmla="val 14545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35"/>
          <p:cNvSpPr/>
          <p:nvPr>
            <p:custDataLst>
              <p:tags r:id="rId29"/>
            </p:custDataLst>
          </p:nvPr>
        </p:nvSpPr>
        <p:spPr>
          <a:xfrm>
            <a:off x="8128000" y="1397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▎核心任务</a:t>
            </a:r>
            <a:endParaRPr lang="en-US" sz="1100"/>
          </a:p>
        </p:txBody>
      </p:sp>
      <p:sp>
        <p:nvSpPr>
          <p:cNvPr id="46" name="AutoShape 36"/>
          <p:cNvSpPr/>
          <p:nvPr>
            <p:custDataLst>
              <p:tags r:id="rId30"/>
            </p:custDataLst>
          </p:nvPr>
        </p:nvSpPr>
        <p:spPr>
          <a:xfrm>
            <a:off x="8128000" y="1714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开发故障参数偏移双侧高亮组件，完成全系统联调</a:t>
            </a:r>
            <a:endParaRPr lang="en-US" sz="1100"/>
          </a:p>
        </p:txBody>
      </p:sp>
      <p:sp>
        <p:nvSpPr>
          <p:cNvPr id="47" name="AutoShape 37"/>
          <p:cNvSpPr/>
          <p:nvPr>
            <p:custDataLst>
              <p:tags r:id="rId31"/>
            </p:custDataLst>
          </p:nvPr>
        </p:nvSpPr>
        <p:spPr>
          <a:xfrm>
            <a:off x="8001000" y="2095500"/>
            <a:ext cx="3429000" cy="571500"/>
          </a:xfrm>
          <a:prstGeom prst="roundRect">
            <a:avLst>
              <a:gd name="adj" fmla="val 17777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38"/>
          <p:cNvSpPr/>
          <p:nvPr>
            <p:custDataLst>
              <p:tags r:id="rId32"/>
            </p:custDataLst>
          </p:nvPr>
        </p:nvSpPr>
        <p:spPr>
          <a:xfrm>
            <a:off x="8128000" y="2159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▎预期产出：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新版前端界面 &amp; 集成系统</a:t>
            </a:r>
            <a:endParaRPr lang="en-US" sz="1100"/>
          </a:p>
        </p:txBody>
      </p:sp>
      <p:sp>
        <p:nvSpPr>
          <p:cNvPr id="49" name="AutoShape 39"/>
          <p:cNvSpPr/>
          <p:nvPr>
            <p:custDataLst>
              <p:tags r:id="rId33"/>
            </p:custDataLst>
          </p:nvPr>
        </p:nvSpPr>
        <p:spPr>
          <a:xfrm>
            <a:off x="6223000" y="3048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40"/>
          <p:cNvSpPr/>
          <p:nvPr>
            <p:custDataLst>
              <p:tags r:id="rId34"/>
            </p:custDataLst>
          </p:nvPr>
        </p:nvSpPr>
        <p:spPr>
          <a:xfrm>
            <a:off x="6413500" y="3238500"/>
            <a:ext cx="1397000" cy="1270000"/>
          </a:xfrm>
          <a:prstGeom prst="roundRect">
            <a:avLst>
              <a:gd name="adj" fmla="val 1000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41"/>
          <p:cNvSpPr/>
          <p:nvPr>
            <p:custDataLst>
              <p:tags r:id="rId35"/>
            </p:custDataLst>
          </p:nvPr>
        </p:nvSpPr>
        <p:spPr>
          <a:xfrm>
            <a:off x="6413500" y="3492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05</a:t>
            </a:r>
            <a:endParaRPr lang="en-US" sz="1100"/>
          </a:p>
        </p:txBody>
      </p:sp>
      <p:sp>
        <p:nvSpPr>
          <p:cNvPr id="53" name="AutoShape 43"/>
          <p:cNvSpPr/>
          <p:nvPr>
            <p:custDataLst>
              <p:tags r:id="rId36"/>
            </p:custDataLst>
          </p:nvPr>
        </p:nvSpPr>
        <p:spPr>
          <a:xfrm>
            <a:off x="8001000" y="3238500"/>
            <a:ext cx="3429000" cy="698500"/>
          </a:xfrm>
          <a:prstGeom prst="roundRect">
            <a:avLst>
              <a:gd name="adj" fmla="val 14545"/>
            </a:avLst>
          </a:prstGeom>
          <a:solidFill>
            <a:srgbClr val="FDF2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44"/>
          <p:cNvSpPr/>
          <p:nvPr>
            <p:custDataLst>
              <p:tags r:id="rId37"/>
            </p:custDataLst>
          </p:nvPr>
        </p:nvSpPr>
        <p:spPr>
          <a:xfrm>
            <a:off x="8128000" y="3302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B2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▎核心任务</a:t>
            </a:r>
            <a:endParaRPr lang="en-US" sz="1100"/>
          </a:p>
        </p:txBody>
      </p:sp>
      <p:sp>
        <p:nvSpPr>
          <p:cNvPr id="55" name="AutoShape 45"/>
          <p:cNvSpPr/>
          <p:nvPr>
            <p:custDataLst>
              <p:tags r:id="rId38"/>
            </p:custDataLst>
          </p:nvPr>
        </p:nvSpPr>
        <p:spPr>
          <a:xfrm>
            <a:off x="8128000" y="3619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补充与整理最终测试数据，撰写毕业设计终期论文</a:t>
            </a:r>
            <a:endParaRPr lang="en-US" sz="1100"/>
          </a:p>
        </p:txBody>
      </p:sp>
      <p:sp>
        <p:nvSpPr>
          <p:cNvPr id="56" name="AutoShape 46"/>
          <p:cNvSpPr/>
          <p:nvPr>
            <p:custDataLst>
              <p:tags r:id="rId39"/>
            </p:custDataLst>
          </p:nvPr>
        </p:nvSpPr>
        <p:spPr>
          <a:xfrm>
            <a:off x="8001000" y="4000500"/>
            <a:ext cx="3429000" cy="571500"/>
          </a:xfrm>
          <a:prstGeom prst="roundRect">
            <a:avLst>
              <a:gd name="adj" fmla="val 17777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47"/>
          <p:cNvSpPr/>
          <p:nvPr>
            <p:custDataLst>
              <p:tags r:id="rId40"/>
            </p:custDataLst>
          </p:nvPr>
        </p:nvSpPr>
        <p:spPr>
          <a:xfrm>
            <a:off x="8128000" y="4064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▎预期产出：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终期论文初稿</a:t>
            </a:r>
            <a:endParaRPr lang="en-US" sz="1100"/>
          </a:p>
        </p:txBody>
      </p:sp>
      <p:sp>
        <p:nvSpPr>
          <p:cNvPr id="58" name="AutoShape 48"/>
          <p:cNvSpPr/>
          <p:nvPr>
            <p:custDataLst>
              <p:tags r:id="rId41"/>
            </p:custDataLst>
          </p:nvPr>
        </p:nvSpPr>
        <p:spPr>
          <a:xfrm>
            <a:off x="6223000" y="4953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49"/>
          <p:cNvSpPr/>
          <p:nvPr>
            <p:custDataLst>
              <p:tags r:id="rId42"/>
            </p:custDataLst>
          </p:nvPr>
        </p:nvSpPr>
        <p:spPr>
          <a:xfrm>
            <a:off x="6413500" y="5143500"/>
            <a:ext cx="1397000" cy="1270000"/>
          </a:xfrm>
          <a:prstGeom prst="roundRect">
            <a:avLst>
              <a:gd name="adj" fmla="val 1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0" name="AutoShape 50"/>
          <p:cNvSpPr/>
          <p:nvPr>
            <p:custDataLst>
              <p:tags r:id="rId43"/>
            </p:custDataLst>
          </p:nvPr>
        </p:nvSpPr>
        <p:spPr>
          <a:xfrm>
            <a:off x="6413500" y="5397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06</a:t>
            </a:r>
            <a:endParaRPr lang="en-US" sz="1100"/>
          </a:p>
        </p:txBody>
      </p:sp>
      <p:sp>
        <p:nvSpPr>
          <p:cNvPr id="62" name="AutoShape 52"/>
          <p:cNvSpPr/>
          <p:nvPr>
            <p:custDataLst>
              <p:tags r:id="rId44"/>
            </p:custDataLst>
          </p:nvPr>
        </p:nvSpPr>
        <p:spPr>
          <a:xfrm>
            <a:off x="8001000" y="5143500"/>
            <a:ext cx="3429000" cy="698500"/>
          </a:xfrm>
          <a:prstGeom prst="roundRect">
            <a:avLst>
              <a:gd name="adj" fmla="val 14545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3" name="AutoShape 53"/>
          <p:cNvSpPr/>
          <p:nvPr>
            <p:custDataLst>
              <p:tags r:id="rId45"/>
            </p:custDataLst>
          </p:nvPr>
        </p:nvSpPr>
        <p:spPr>
          <a:xfrm>
            <a:off x="8128000" y="5207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▎核心任务</a:t>
            </a:r>
            <a:endParaRPr lang="en-US" sz="1100"/>
          </a:p>
        </p:txBody>
      </p:sp>
      <p:sp>
        <p:nvSpPr>
          <p:cNvPr id="64" name="AutoShape 54"/>
          <p:cNvSpPr/>
          <p:nvPr>
            <p:custDataLst>
              <p:tags r:id="rId46"/>
            </p:custDataLst>
          </p:nvPr>
        </p:nvSpPr>
        <p:spPr>
          <a:xfrm>
            <a:off x="8128000" y="5524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制作项目汇报PPT，整理资料，准备毕业答辩</a:t>
            </a:r>
            <a:endParaRPr lang="en-US" sz="1100"/>
          </a:p>
        </p:txBody>
      </p:sp>
      <p:sp>
        <p:nvSpPr>
          <p:cNvPr id="65" name="AutoShape 55"/>
          <p:cNvSpPr/>
          <p:nvPr>
            <p:custDataLst>
              <p:tags r:id="rId47"/>
            </p:custDataLst>
          </p:nvPr>
        </p:nvSpPr>
        <p:spPr>
          <a:xfrm>
            <a:off x="8001000" y="5905500"/>
            <a:ext cx="3429000" cy="571500"/>
          </a:xfrm>
          <a:prstGeom prst="roundRect">
            <a:avLst>
              <a:gd name="adj" fmla="val 17777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6" name="AutoShape 56"/>
          <p:cNvSpPr/>
          <p:nvPr>
            <p:custDataLst>
              <p:tags r:id="rId48"/>
            </p:custDataLst>
          </p:nvPr>
        </p:nvSpPr>
        <p:spPr>
          <a:xfrm>
            <a:off x="8128000" y="5969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▎预期产出：</a:t>
            </a:r>
            <a:r>
              <a:rPr 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答辩PPT &amp; 答辩准备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 txBox="1"/>
          <p:nvPr/>
        </p:nvSpPr>
        <p:spPr>
          <a:xfrm>
            <a:off x="1890754" y="2916310"/>
            <a:ext cx="8410492" cy="10253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请各位老师批评指正！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1197" y="6510874"/>
            <a:ext cx="2540000" cy="312871"/>
          </a:xfrm>
        </p:spPr>
        <p:txBody>
          <a:bodyPr/>
          <a:lstStyle/>
          <a:p>
            <a:fld id="{FB4633A8-1B83-42BF-A43F-2A467460F7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86467" y="6510874"/>
            <a:ext cx="644336" cy="312871"/>
          </a:xfrm>
        </p:spPr>
        <p:txBody>
          <a:bodyPr/>
          <a:lstStyle/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2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3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4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5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6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7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8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9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10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11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12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13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14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15.xml><?xml version="1.0" encoding="utf-8"?>
<p:tagLst xmlns:p="http://schemas.openxmlformats.org/presentationml/2006/main">
  <p:tag name="KSO_WM_DIAGRAM_VIRTUALLY_FRAME" val="{&quot;height&quot;:300,&quot;left&quot;:30,&quot;top&quot;:140,&quot;width&quot;:900}"/>
</p:tagLst>
</file>

<file path=ppt/tags/tag16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17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18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19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20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21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22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23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24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25.xml><?xml version="1.0" encoding="utf-8"?>
<p:tagLst xmlns:p="http://schemas.openxmlformats.org/presentationml/2006/main">
  <p:tag name="KSO_WM_DIAGRAM_VIRTUALLY_FRAME" val="{&quot;height&quot;:340,&quot;left&quot;:30,&quot;top&quot;:120,&quot;width&quot;:890}"/>
</p:tagLst>
</file>

<file path=ppt/tags/tag26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27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28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29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0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1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2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3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4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5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6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7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8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39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0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1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2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3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4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5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6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7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8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49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0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1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2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3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4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5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6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7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8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59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0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1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2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3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4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5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6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7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8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69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70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71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72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73.xml><?xml version="1.0" encoding="utf-8"?>
<p:tagLst xmlns:p="http://schemas.openxmlformats.org/presentationml/2006/main">
  <p:tag name="KSO_WM_DIAGRAM_VIRTUALLY_FRAME" val="{&quot;height&quot;:430,&quot;left&quot;:40,&quot;top&quot;:90,&quot;width&quot;:880}"/>
</p:tagLst>
</file>

<file path=ppt/tags/tag74.xml><?xml version="1.0" encoding="utf-8"?>
<p:tagLst xmlns:p="http://schemas.openxmlformats.org/presentationml/2006/main">
  <p:tag name="commondata" val="eyJoZGlkIjoiNjg1ZGViZTRiNGFmZDQ2ODExNTI4ZjU2NTU4N2ZiYmEifQ=="/>
</p:tagLst>
</file>

<file path=ppt/theme/theme1.xml><?xml version="1.0" encoding="utf-8"?>
<a:theme xmlns:a="http://schemas.openxmlformats.org/drawingml/2006/main" name="1_主题1">
  <a:themeElements>
    <a:clrScheme name="自定义 1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00"/>
      </a:hlink>
      <a:folHlink>
        <a:srgbClr val="000000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>
            <a:lumMod val="60000"/>
            <a:lumOff val="40000"/>
          </a:schemeClr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rtlCol="0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sz="2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000000"/>
    </a:hlink>
    <a:folHlink>
      <a:srgbClr val="0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1834</Words>
  <Application>WPS 演示</Application>
  <PresentationFormat>宽屏</PresentationFormat>
  <Paragraphs>260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Tahoma</vt:lpstr>
      <vt:lpstr>Times New Roman</vt:lpstr>
      <vt:lpstr>微软雅黑</vt:lpstr>
      <vt:lpstr>Noto Sans SC</vt:lpstr>
      <vt:lpstr>Calibri</vt:lpstr>
      <vt:lpstr>Arial Unicode MS</vt:lpstr>
      <vt:lpstr>等线</vt:lpstr>
      <vt:lpstr>1_主题1</vt:lpstr>
      <vt:lpstr>PowerPoint 演示文稿</vt:lpstr>
      <vt:lpstr>目录</vt:lpstr>
      <vt:lpstr>研究背景：AI框架的重要性与隐蔽缺陷</vt:lpstr>
      <vt:lpstr>研究背景：模糊测试的引入</vt:lpstr>
      <vt:lpstr>研究背景：模糊测试的三大核心痛点</vt:lpstr>
      <vt:lpstr>研究目标：智能的测试用例管理与分析</vt:lpstr>
      <vt:lpstr>工作进展</vt:lpstr>
      <vt:lpstr>工作进展</vt:lpstr>
      <vt:lpstr>工作进展</vt:lpstr>
      <vt:lpstr>工作进展</vt:lpstr>
      <vt:lpstr>工作进展</vt:lpstr>
      <vt:lpstr>工作进展</vt:lpstr>
      <vt:lpstr>存在的问题</vt:lpstr>
      <vt:lpstr>后续进度安排</vt:lpstr>
      <vt:lpstr>进度安排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Multi-Role SpTRSV on Sunway  Many-core Architecture</dc:title>
  <dc:creator>Mingzhen Li</dc:creator>
  <cp:lastModifiedBy>郭俊杰</cp:lastModifiedBy>
  <cp:revision>2311</cp:revision>
  <dcterms:created xsi:type="dcterms:W3CDTF">2018-06-19T02:08:00Z</dcterms:created>
  <dcterms:modified xsi:type="dcterms:W3CDTF">2026-05-29T08:18:51Z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678F839B34EF4669BF8EC93B8DB7B0C3_13</vt:lpwstr>
  </property>
  <property fmtid="{D5CDD505-2E9C-101B-9397-08002B2CF9AE}" pid="3" name="KSOProductBuildVer">
    <vt:lpwstr>2052-12.1.0.25860</vt:lpwstr>
  </property>
</Properties>
</file>