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Microsoft YaHei"/>
              </a:defRPr>
            </a:pPr>
            <a:r>
              <a:t>研究背景：模糊测试的引入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6F7F8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646464"/>
                </a:solidFill>
                <a:latin typeface="Microsoft YaHei"/>
              </a:defRPr>
            </a:pPr>
            <a:r>
              <a:t>📌 传统测试手段 (Traditional)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生成方式：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人工手动编写 ➔ 依赖专家经验，编写成本高、用例规模小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参数分布：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常规/正常参数 ➔ 仅覆盖主干快乐路径，无法触及边缘状态</a:t>
            </a:r>
          </a:p>
          <a:p>
            <a:r>
              <a:rPr sz="1150" b="1">
                <a:solidFill>
                  <a:srgbClr val="333333"/>
                </a:solidFill>
                <a:latin typeface="Microsoft YaHei"/>
              </a:rPr>
              <a:t>• 缺陷捕获：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预期结果比对 ➔ 难以发现深度学习底层的复杂内存与语义崩溃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2560320"/>
          </a:xfrm>
          <a:prstGeom prst="rect">
            <a:avLst/>
          </a:prstGeom>
          <a:solidFill>
            <a:srgbClr val="EEF4FC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F4E79"/>
                </a:solidFill>
                <a:latin typeface="Microsoft YaHei"/>
              </a:defRPr>
            </a:pPr>
            <a:r>
              <a:t>🚀 模糊测试 (Fuzzing)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生成方式：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算法高频自动变异 ➔ 机器全自动批量生成，海量覆盖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Microsoft YaHei"/>
              </a:rPr>
              <a:t>• 参数分布：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极端/畸形参数 ➔ 直击算子边界状态（对应下方变异引擎）</a:t>
            </a:r>
          </a:p>
          <a:p>
            <a:r>
              <a:rPr sz="1150" b="1">
                <a:solidFill>
                  <a:srgbClr val="333333"/>
                </a:solidFill>
                <a:latin typeface="Microsoft YaHei"/>
              </a:rPr>
              <a:t>• 缺陷捕获：</a:t>
            </a:r>
            <a:r>
              <a:rPr sz="1150">
                <a:solidFill>
                  <a:srgbClr val="333333"/>
                </a:solidFill>
                <a:latin typeface="Microsoft YaHei"/>
              </a:rPr>
              <a:t>底层全天候监控 ➔ 强制触发非预期执行流，主动捕获隐蔽漏洞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1094415" cy="2011680"/>
          </a:xfrm>
          <a:prstGeom prst="roundRect">
            <a:avLst/>
          </a:prstGeom>
          <a:solidFill>
            <a:srgbClr val="FDFEFF"/>
          </a:solidFill>
          <a:ln w="19050">
            <a:solidFill>
              <a:srgbClr val="DADCE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F4E79"/>
                </a:solidFill>
                <a:latin typeface="Microsoft YaHei"/>
              </a:defRPr>
            </a:pPr>
            <a:r>
              <a:t>💡 页面设计说明（制作完后可删去此提示框）：</a:t>
            </a:r>
          </a:p>
          <a:p>
            <a:pPr algn="ctr">
              <a:spcAft>
                <a:spcPts val="400"/>
              </a:spcAft>
              <a:defRPr sz="1100">
                <a:solidFill>
                  <a:srgbClr val="333333"/>
                </a:solidFill>
                <a:latin typeface="Microsoft YaHei"/>
              </a:defRPr>
            </a:pPr>
            <a:r>
              <a:t>1. 上方的“左右对称对照双栏”已为您生成完毕，具有完美的颜色对比度与学术级的行高边距。</a:t>
            </a:r>
            <a:br/>
            <a:r>
              <a:t>2. 您可以直接将本 PPT 文件中的两个“对照盒子”全选复制，并粘贴覆盖到您原有的 Slide 5 上半部分文字区。</a:t>
            </a:r>
            <a:br/>
            <a:r>
              <a:t>3. 此处虚线框内的空间已为您精确预留，您可以直接把自己原来的“变异流程图”（提取原始种子 -&gt; 变异引擎 -&gt; 生成计算图 -&gt; 监控）整体拖放到本虚线框内，即可形成完美的上下视觉呼应！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