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北京航空航天大学计算机学院 ·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面向深度学习系统模糊测试的</a:t>
            </a:r>
            <a:br/>
            <a:r>
              <a:t>测试用例智能管理与分析</a:t>
            </a:r>
          </a:p>
          <a:p>
            <a:pPr>
              <a:defRPr sz="1600">
                <a:solidFill>
                  <a:srgbClr val="C8D2E6"/>
                </a:solidFill>
                <a:latin typeface="Arial"/>
              </a:defRPr>
            </a:pPr>
            <a:r>
              <a:t>Intelligent Management and Analysis of Test Cases for Deep Learning System Fuzzing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103601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答 辩 人 ：  郭俊杰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学    号 ：  22371240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指导老师 ：  吴 际  副教授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专    业 ：  计算机科学与技术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t>汇报大纲 /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01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937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研究背景与研究目标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AI框架测试痛点 · FuzzHub一站式总体设计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4937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研究内容与系统实现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存储协同 · CEI效能剪枝 · RAG诊断与补盲闭环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4937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实验结果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C++物理探针消融 · Daikon约束精度 · 代码生成质量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493776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总结展望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学术贡献凝练 · 科研局限性 · 未来研究规划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67E22"/>
                </a:solidFill>
                <a:latin typeface="Microsoft YaHei"/>
              </a:defRPr>
            </a:pPr>
            <a:r>
              <a:t>01</a:t>
            </a:r>
          </a:p>
          <a:p>
            <a:pPr algn="ctr">
              <a:spcBef>
                <a:spcPts val="1500"/>
              </a:spcBef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研究背景与研究目标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01 | 研究背景：AI框架测试的三大痛点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11880" cy="4846320"/>
          </a:xfrm>
          <a:prstGeom prst="rect">
            <a:avLst/>
          </a:prstGeom>
          <a:solidFill>
            <a:srgbClr val="FDF5F2"/>
          </a:solidFill>
          <a:ln w="127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痛点 1: 异构数据“存不下、检索难”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模糊测试反馈回路高频运转，并发高，传统读写方案易产生瓶颈。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测试脚本、覆盖率、崩溃Stderrs等多源产物混合，Schema无法统一。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传统文本库无法对长堆栈Stderrs进行语义近似匹配，漏洞极难检索复用。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71600"/>
            <a:ext cx="3611880" cy="4846320"/>
          </a:xfrm>
          <a:prstGeom prst="rect">
            <a:avLst/>
          </a:prstGeom>
          <a:solidFill>
            <a:srgbClr val="FDF5F2"/>
          </a:solidFill>
          <a:ln w="127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痛点 2: 用例同质“冗余多、算力废”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变异引擎倾向于在局部热点徘徊，生成成千上万例高度重合用例。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目前评估策略只重视代码分支覆盖极限，忽视了每次执行所需物理时间。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海量低价值测试脚本长期堆积在运行队列中，浪费宝贵算力。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611880" cy="4846320"/>
          </a:xfrm>
          <a:prstGeom prst="rect">
            <a:avLst/>
          </a:prstGeom>
          <a:solidFill>
            <a:srgbClr val="FDF5F2"/>
          </a:solidFill>
          <a:ln w="127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痛点 3: 漏洞分析“定位深、补盲难”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万行复杂崩溃Stderrs定位极其繁琐，故障可疑算子判定依赖专家人工经验。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通用LLM辅助诊断时带有严重的深度学习领域‘专业幻觉’，代码合规率低。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代码盲区（覆盖缺口）无法自适应识别，补盲脚本仍高度依赖手工构建。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01 | 研究目标：构建智能化测试管理分析平台 FuzzHub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🎯 核心研究目标</a:t>
            </a:r>
          </a:p>
          <a:p>
            <a:pPr>
              <a:spcBef>
                <a:spcPts val="0"/>
              </a:spcBef>
              <a:spcAft>
                <a:spcPts val="20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建立一个覆盖“协同接入存储 → 效能剪枝量化 → 拓扑诊断诊断 → 盲区定向补强”的一站式模糊测试生命周期智能管理平台，压榨过剩同质化算力开销，辅助开发者高效定位边界缺陷并闭环测试盲区。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💼 覆盖三大研究命题：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异构存储协同与毫秒级高维语义检索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 CEI 效能评估剪枝（释放冗余算力）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3. RAG 闭环故障分析、对比与自适应补齐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371600"/>
            <a:ext cx="6858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50876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🖥️ 可视化交互层 (Vue 3 + Element Plus)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全局状态看板 · 智能自然语言语义相似匹配检索 · DFS回溯故障定位高亮 · 算子热力图定向一键补齐高亮生成。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017520"/>
            <a:ext cx="6858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15468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⚙️ 算法处理中间层 (NLP &amp; Inference)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LogParser 堆栈提取标准化 · FaultLocator DAG 拓扑 DFS 回溯定位 · CEI 评估度量与百分位剪枝 · Daikon 张量约束不变量推断 · RAG 精准 Prompt 大模型闭环。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663440"/>
            <a:ext cx="6858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80060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💽 双库异构协同存储层 (Relational &amp; Vector)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MySQL 关系型多表关联（用例路径、状态、物理时间、覆盖增量等）与 Milvus 高维语义向量库（384维报错日志编码，IVF_FLAT毫秒级相似召回）。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67E22"/>
                </a:solidFill>
                <a:latin typeface="Microsoft YaHei"/>
              </a:defRPr>
            </a:pPr>
            <a:r>
              <a:t>02</a:t>
            </a:r>
          </a:p>
          <a:p>
            <a:pPr algn="ctr">
              <a:spcBef>
                <a:spcPts val="1500"/>
              </a:spcBef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研究内容与系统实现</a:t>
            </a:r>
            <a:br/>
            <a:r>
              <a:t>(算法理论 与 系统落地一站式展示)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02 | 研究内容一：异构测试产物双库协同存储设计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⚡ 异步协程流量削峰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由于 Fuzzing 引擎回传数据频率极高，采用高吞吐协程（Coroutine）作为缓冲削峰机制。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在数据到达后瞬间异步分解，分离出‘基础元数据’与‘长Stderr日志/计算图结构’，避免并发死锁。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🗄️ MySQL 结构化元数据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构建 `test_case_metadata` 核心关系表。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保存用例的静态基础信息：状态（Success/Crash）、脚本物理位置、单次运行时间（精确到ms）、分支覆盖度等。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通过外键约束将高维向量主键与元数据深度绑定。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🧠 Milvus 高维语义向量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针对 Stderr 报错日志，通过 SentenceTransformer 预训练向量语言模型，编码为 384 维稠密浮点向量特征。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构建高维 Milvus 向量集合。应用 IVF_FLAT 索引，在百万级向量库中实现毫秒级的 L2 近似近邻检索。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02 | 研究内容一落地：FuzzHub 全局监控总览与智能语义检索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📊 FuzzHub 运行总览界面 (图 5.1)</a:t>
            </a:r>
          </a:p>
          <a:p>
            <a:pPr>
              <a:spcBef>
                <a:spcPts val="0"/>
              </a:spcBef>
              <a:spcAft>
                <a:spcPts val="15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集成了模糊测试的累加用例流状态：实时展示累积脚本数、运行平均毫秒数、崩溃拦截率，通过图表反馈执行曲线。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底层接入：MySQL 核心主表数据，通过动态定时轮询（Web Polling）方式维持与执行端状态同步，展现测试全局走势。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🔍 用例语义智能检索界面 (图 5.2)</a:t>
            </a:r>
          </a:p>
          <a:p>
            <a:pPr>
              <a:spcBef>
                <a:spcPts val="0"/>
              </a:spcBef>
              <a:spcAft>
                <a:spcPts val="15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组合检索：在前端列表提供 ID、物理状态、运行时间等 MySQL 多层结构条件联合过滤。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自然语言 Smart Search：直接对接后台 Milvus 检索接口。输入如『寻找包含 Conv2d 且崩溃为 SegFault 的脚本』，系统提取该查询的语义向量，利用 IVF_FLAT 索引在向量集合中快速匹配，实现毫米级的相似匹配和用例重用。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🖥️ 【图 5.1 FuzzHub 运行总览界面】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 ┌──────────────────────────────────────────────┐</a:t>
            </a:r>
            <a:br/>
            <a:r>
              <a:t>   │  Pass: 92.4%  |  Crashes: 7,542  |  Avg: 23ms │</a:t>
            </a:r>
            <a:br/>
            <a:r>
              <a:t>   │  [📈 覆盖率折线变化趋势图]  [⏳ 队列延迟波形图]     │</a:t>
            </a:r>
            <a:br/>
            <a:r>
              <a:t>   └──────────────────────────────────────────────┘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49039"/>
            <a:ext cx="5303520" cy="246888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9377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🔎 【图 5.2 测试用例检索与 Smart Search】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 ┌──────────────────────────────────────────────┐</a:t>
            </a:r>
            <a:br/>
            <a:r>
              <a:t>   │ 🔍 输入语义: '寻找包含 Conv2d 的 SegFault 用例'│</a:t>
            </a:r>
            <a:br/>
            <a:r>
              <a:t>   ├──────────────────────────────────────────────┤</a:t>
            </a:r>
            <a:br/>
            <a:r>
              <a:t>   │ [Top-1] ID_94212 | Sim: 0.945 | State: Crash │</a:t>
            </a:r>
            <a:br/>
            <a:r>
              <a:t>   │ [Top-2] ID_24119 | Sim: 0.892 | State: Crash │</a:t>
            </a:r>
            <a:br/>
            <a:r>
              <a:t>   └──────────────────────────────────────────────┘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02 | 研究内容二：基于覆盖效能指数（CEI）的用例剪枝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645920"/>
          </a:xfrm>
          <a:prstGeom prst="rect">
            <a:avLst/>
          </a:prstGeom>
          <a:solidFill>
            <a:srgbClr val="F2F6FC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覆盖效能指数 (Coverage Efficiency Index, CEI) 核心定义公式：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E67E22"/>
                </a:solidFill>
                <a:latin typeface="Arial"/>
              </a:defRPr>
            </a:pPr>
            <a:r>
              <a:t>CEI_i =  Δ Cov_i  /  Σ ( w_op * t_op )</a:t>
            </a:r>
          </a:p>
          <a:p>
            <a:pPr algn="ctr">
              <a:spcBef>
                <a:spcPts val="800"/>
              </a:spcBef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【分子】该用例提供的独立 C++ 底层分支覆盖率增量  |  【分母】测试图中所含全部算子的物理加权平均计算时间成本之和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548640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💡 传统单维度过滤的局限性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Fuzz 变异阶段产生的复杂图，部分用例内部包含极长循环或大规模张量相乘，单次运行物理耗时增加几十倍，但却未贡献任何一行 C++ 分支覆盖度增量。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传统过滤只管‘是否覆盖新代码’，致使这些极端拖慢物理周期的冗余垃圾用例滞留，严重拖垮执行机速度。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91840"/>
            <a:ext cx="548640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⚡ 动态百分位剪枝决策 (Pruning)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引入算子敏感度权重基准 w_op：对大开销算子赋予更高开销分母惩罚，精细刻画运行投入产出比。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百分位剪枝算法：自适应分析测试库中整体 CEI 的概率分布，设定动态比例淘汰滑块 P_limit，一键物理执行冗余用例清退，最大化压榨物理算力。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02 | 研究内容二落地：效能一键剪枝与用例多样性可视化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📈 效能一键评估剪枝界面 (图 5.9)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系统渲染全体用例的 CEI 效能散点图，直观展现‘低效低能同质化用例’的富集比例。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前端集成滑动条，用户拉动 P_limit 阈值，可无感动态预览剪枝后‘保留用例数’、‘预期执行省去物理时间’与‘可能影响的覆盖度曲线关系’，实现自适应的一键物理清退。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🗺️ 主成分降维用例多样性分布界面 (图 5.10)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拓扑语义降维：提取计算图的算子和连线，转化为拓扑嵌入，应用 PCA（主成分分析）算法将高维特征稠密向量投射到二维极坐标中。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密集同质化灾区：散点极密区域反映变异引擎在此进行了严重重复的无价值探索。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稀疏覆盖缺口：空白区域标识算子未探测盲区，引导后文的定向补盲测试样例生成。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🖥️ 【图 5.9 测试效能评估与一键剪枝预览】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 ┌──────────────────────────────────────────────┐</a:t>
            </a:r>
            <a:br/>
            <a:r>
              <a:t>   │  🎛️ 剪枝阈值滑块: [━━━●━━━━━━━━━] P_limit: 40%   │</a:t>
            </a:r>
            <a:br/>
            <a:r>
              <a:t>   │  ✨ 预览: 剪枝 400个同质用例 | 预计物理省时 34.5% │</a:t>
            </a:r>
            <a:br/>
            <a:r>
              <a:t>   │  [⚙️ 一键物理清退]                             │</a:t>
            </a:r>
            <a:br/>
            <a:r>
              <a:t>   └──────────────────────────────────────────────┘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49039"/>
            <a:ext cx="5303520" cy="246888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9377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🗺️ 【图 5.10 用例多样性分布 PCA 散点图】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 ┌──────────────────────────────────────────────┐</a:t>
            </a:r>
            <a:br/>
            <a:r>
              <a:t>   │  [ 🌌 二维PCA空间投影 ]                       │</a:t>
            </a:r>
            <a:br/>
            <a:r>
              <a:t>   │    • • • • • ( 🔴 密集区: 同质化冗余灾区 )    │</a:t>
            </a:r>
            <a:br/>
            <a:r>
              <a:t>   │          [     🎨 空白稀疏区: 算子覆盖缺口     ] │</a:t>
            </a:r>
            <a:br/>
            <a:r>
              <a:t>   └──────────────────────────────────────────────┘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02 | 研究内容三：可疑算子 DFS 定位与动态不变量分析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✂️ LogParser 堆栈提取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捕获底层崩溃 stderr 长堆栈日志，剔除与框架代码无关的宿主系统冗余信息。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支持解析 C++ Core Dump、TypeError、ValueError、RuntimeError 等 8 种高频核心错误分类，规范化输出结构化 JSON。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⛓️ DFS 逆向拓扑故障定位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从崩溃算子节点（Sink）出发，在计算图 DAG（有向无环拓扑）上建立逆向追踪流。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设计 FaultLocator 逆向拓扑回溯 DFS 算法，计算传播链路置信度评分（Suspicious Score），瞬间将万行日志缩减锁定到极窄的缺陷算子列表。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📏 Daikon 边界不变量推断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在崩溃点前插桩提取健康与失败状态下的张量运行时底层参数（Shape 维度, DataType, 临界取值界限）。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对接 Daikon 推断不变量引擎，推导出高可信边界约束不等式（如 `x.dim0 == y.dim1`）。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02 | 研究内容三落地：RAG 智能诊断与定向测试补盲界面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🛠️ DFS故障定位与 RAG 智能分析助手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故障回溯高亮 (图 5.3)：用例详情页高亮显示核心 Stderr，通过柱状图与可疑得分直观呈现缺陷算子，节省繁杂排查开销。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AI 智能对话 (图 5.4)：后台检索 Milvus 召回最相近的历史崩溃用例特征，拼装 Stderr、Daikon 不变量边界，套用强规格 Prompt 注入大语言模型（LLM），彻底扫清模型幻觉，生成深度辅诊报告和修复提示。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⚡ 边界不变量对比与热力图定向补盲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临界参数差分比对 (图 5.6)：同步弹窗展现成功与失败用例的数值参数差异，展示推断约束，并一键复制大模型生成的 Satisfy / Violate 正负对比验证样例。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全局算子缺口补盲 (图 5.7 &amp; 5.8)：热力图反映算子调用网格覆盖率。一键点击空白未探测区域，调用 RAG 生成合规 Python 测试脚本补齐盲区，达成闭环反馈。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🖥️ 【图 5.3 &amp; 5.4 DFS 可疑算子高亮与 AI 助手】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 ┌──────────────────────────────────────────────┐</a:t>
            </a:r>
            <a:br/>
            <a:r>
              <a:t>   │ 可疑算子得分: MaxPool2d (0.88) | Linear (0.42)│</a:t>
            </a:r>
            <a:br/>
            <a:r>
              <a:t>   ├──────────────────────────────────────────────┤</a:t>
            </a:r>
            <a:br/>
            <a:r>
              <a:t>   │ 🤖 AI RAG诊断: '发现参数维度在 dim0 上存在冲突' │</a:t>
            </a:r>
            <a:br/>
            <a:r>
              <a:t>   │ [📄 一键复制 Satisfy 脚本] [📄 一键复制 Violate 脚本] │</a:t>
            </a:r>
            <a:br/>
            <a:r>
              <a:t>   └──────────────────────────────────────────────┘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49039"/>
            <a:ext cx="5303520" cy="246888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9377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🗺️ 【图 5.7 &amp; 5.8 覆盖缺口热力图与 AI 定向补盲】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 ┌──────────────────────────────────────────────┐</a:t>
            </a:r>
            <a:br/>
            <a:r>
              <a:t>   │  [ 📊 全局算子流转调用覆盖率热力矩阵 ]            │</a:t>
            </a:r>
            <a:br/>
            <a:r>
              <a:t>   │  💬 点击未覆盖网格 [Conv2d + ReLU]            │</a:t>
            </a:r>
            <a:br/>
            <a:r>
              <a:t>   ├──────────────────────────────────────────────┤</a:t>
            </a:r>
            <a:br/>
            <a:r>
              <a:t>   │  📦 自动生成定向补盲脚本:                       │</a:t>
            </a:r>
            <a:br/>
            <a:r>
              <a:t>   │  'import torch; x = torch.randn(1,3,224,224)...'│</a:t>
            </a:r>
            <a:br/>
            <a:r>
              <a:t>   └──────────────────────────────────────────────┘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67E22"/>
                </a:solidFill>
                <a:latin typeface="Microsoft YaHei"/>
              </a:defRPr>
            </a:pPr>
            <a:r>
              <a:t>03</a:t>
            </a:r>
          </a:p>
          <a:p>
            <a:pPr algn="ctr">
              <a:spcBef>
                <a:spcPts val="1500"/>
              </a:spcBef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实 验 结 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03 | 实验结果：物理插桩环境与 CEI 消融阈值扫描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🏗️ 源码级编译 C++ 物理插桩评测环境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硬件环境基准：12-Core Intel i7 @ 3.4GHz, 32GB RAM, RTX 4060 GPU物理卡。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核心技术硬验证：由于上层 Python 覆盖率无法精细代表深度学习 C++ 内核分支状态，我们在 WSL (Ubuntu 22.04) 下，源码级加入探针重新编译了整个 PyTorch 框架，采用 Gcov 严格、精准地采集底层的 C++ 物理行覆盖率，拒绝一切数据水分。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📈 CEI 动态百分位阈值消融扫描 (图 6.1)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我们在 200 例真实模糊测试用例上，以 P_limit 从 0% 到 80% 进行宽动态消融实验。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核心物理特征发现：伴随剪枝阈值提升到 20% ~ 40%，整体时间耗时线（Time）呈现陡峭的断崖式暴跌（下降超 30%）；但与之对应的 C++ 物理行覆盖率（Coverage）却表现出极强的高鲁棒平缓走势。这在真实的物理插桩尺度上，充分论证了 CEI 模型的科学性与剪枝的非对称高优化回报。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F0F4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📊 【图 6.1 CEI 阈值扫描消融实验曲线图】</a:t>
            </a:r>
          </a:p>
          <a:p>
            <a:pPr>
              <a:spcBef>
                <a:spcPts val="1500"/>
              </a:spcBef>
              <a:spcAft>
                <a:spcPts val="8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覆盖度</a:t>
            </a:r>
            <a:br/>
            <a:r>
              <a:t>   ▲</a:t>
            </a:r>
            <a:br/>
            <a:r>
              <a:t>   │ ━━━━━━━━━━━━━━━━━━━━━━━━ (C++ 覆盖率: 维持稳定平缓)</a:t>
            </a:r>
            <a:br/>
            <a:r>
              <a:t>   │</a:t>
            </a:r>
            <a:br/>
            <a:r>
              <a:t>   │  \\</a:t>
            </a:r>
            <a:br/>
            <a:r>
              <a:t>   │    \\</a:t>
            </a:r>
            <a:br/>
            <a:r>
              <a:t>   │      \\  ( ⚡ 执行时间: 断崖式急剧暴跌 )</a:t>
            </a:r>
            <a:br/>
            <a:r>
              <a:t>   │        \\___________________</a:t>
            </a:r>
            <a:br/>
            <a:r>
              <a:t>   └───────────────────────────────► P_limit 阈值 (0% -&gt; 80%)</a:t>
            </a:r>
            <a:br/>
            <a:r>
              <a:t>     [0%]  [20%]  [40%]  [60%]  [80%]</a:t>
            </a:r>
          </a:p>
          <a:p>
            <a:pPr>
              <a:spcBef>
                <a:spcPts val="2500"/>
              </a:spcBef>
              <a:spcAft>
                <a:spcPts val="800"/>
              </a:spcAft>
              <a:defRPr sz="1100" b="0">
                <a:solidFill>
                  <a:srgbClr val="003366"/>
                </a:solidFill>
                <a:latin typeface="Microsoft YaHei"/>
              </a:defRPr>
            </a:pPr>
            <a:r>
              <a:t>• 实验得证：20%~40% 百分位是剪枝的黄金分割点，能用近乎无损的代码覆盖率换回巨额的物理执行耗时释放！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03 | 实验结果：千例规模真实剪枝消融结果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🏆 千例规模真实模糊测试集控制消融对比实验（对应论文表 6.2）：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745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651760"/>
                <a:gridCol w="2926080"/>
                <a:gridCol w="2770632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核心评测指标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CEI 剪枝前基准 (1000例)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CEI 剪枝后 (保留600例)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物理差值 / 核心优化幅度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测试用例规模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1000 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600 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精简 400 例 (40.0% 规模)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物理执行总耗时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338.25 秒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221.55 秒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67E22"/>
                          </a:solidFill>
                          <a:latin typeface="Microsoft YaHei"/>
                        </a:defRPr>
                      </a:pPr>
                      <a:r>
                        <a:t>缩减 116.7 秒 ( ⬇️ 降幅 34.5% 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Python 行覆盖率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71.43% (445 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71.43% (445 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无发生任何损耗 ( 0.00% 衰减 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C++ 底层物理行覆盖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1148 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1143 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6"/>
                          </a:solidFill>
                          <a:latin typeface="Microsoft YaHei"/>
                        </a:defRPr>
                      </a:pPr>
                      <a:r>
                        <a:t>极微弱减少 5 行 ( ⬇️ 仅 0.43% 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29200"/>
            <a:ext cx="11274552" cy="1188720"/>
          </a:xfrm>
          <a:prstGeom prst="rect">
            <a:avLst/>
          </a:prstGeom>
          <a:solidFill>
            <a:srgbClr val="FDF5F2"/>
          </a:solidFill>
          <a:ln w="127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🔍 核心物理实验结论：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实验表明，CEI剪枝评估算法成功从海量模糊测试流中剥离清退了 40% 的同质化冗余用例。在 Python 代码覆盖率完全无损、深度核心 C++ 物理行覆盖率仅损失微乎其微的 0.43%（5行）的前提下，将整个测试集的物理在板执行总耗时大幅缩减了 34.5%！这一非对称的优化比，有力支持了测试套件开销缩减的重大命题。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03 | 实验结果：约束推断精度与 LLM 代码生成质量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📏 Daikon 边界不变量约束推断性能 (表 6.3)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基准评测：我们对 PyTorch 内核最频繁调用的 `Conv2d`、`Linear`、`MaxPool2d`、`LSTM` 等算子在已知目标边界约束下进行了动态检测：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• 平均约束召回率 (Recall)：达到 85.0%</a:t>
            </a:r>
          </a:p>
          <a:p>
            <a:pPr>
              <a:spcBef>
                <a:spcPts val="0"/>
              </a:spcBef>
              <a:spcAft>
                <a:spcPts val="15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平均不变量误报率 (False Alarm)：控制在 5.0% 极低范围。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评测得证：系统具备极高精度捕获算子发生崩溃时的临界数学不变量关系，保障诊断根因可靠。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⚡ 约束驱动 LLM 验证用例代码生成质量 (表 6.4)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代码合规率评测：对大模型依据 RAG 提示词模板生成的 `Satisfy` 与 `Violate` 对比用例在物理沙箱中的可运行性与合规性进行测试：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• 验证代码物理执行通过率：达到 95% 以上</a:t>
            </a:r>
          </a:p>
          <a:p>
            <a:pPr>
              <a:spcBef>
                <a:spcPts val="0"/>
              </a:spcBef>
              <a:spcAft>
                <a:spcPts val="15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对照消融分析：若去除后台 RAG 相似召回与约束注入，通用大模型生成的同类 Python 代码成功运行率不足 70%，且充斥废弃 API 编译冲突与数据维度对齐报错。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评测结论：本系统设计的 RAG 强规格提示词机制，成功阻断大模型通用幻觉，直接生成可立即运行的定向测试脚本。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67E22"/>
                </a:solidFill>
                <a:latin typeface="Microsoft YaHei"/>
              </a:defRPr>
            </a:pPr>
            <a:r>
              <a:t>04</a:t>
            </a:r>
          </a:p>
          <a:p>
            <a:pPr algn="ctr">
              <a:spcBef>
                <a:spcPts val="1500"/>
              </a:spcBef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04 | 总结：主要学术工作与创新贡献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🗃️ 贡献一：双库协同异构测试产物管理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构建了基于 MySQL 和 Milvus 双库关联的协同存储架构模型。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解决了模糊测试回传高吞吐数据流吞吐削峰瓶颈。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将原本无序的 Stderr 崩溃堆栈和 API 序列转化为 384 维向量索引，首创毫秒级高维语义近似检索，支持自然语言检索用例。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⚡ 贡献二：提出覆盖效能度量 CEI 模型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突破单纯以‘覆盖极限’为单一考量的局限，精细引入算子耗时成本，构建 CEI 效能比评估模型。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在带 C++ 分支探针的真实 PyTorch 上，消融剪枝精简了 40% 的冗余同质化用例，实现 Python 覆盖率无损、C++ 覆盖率仅损失极微小的 0.43% 下，总执行物理耗时剧烈缩减 34.5% 的非对称高优化开销回报。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61188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0876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🤖 贡献三：实现 RAG 驱动闭环自动诊断与补盲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融接 LogParser 日志规范化、FaultLocator 拓扑 DFS 定位、以及 Daikon 数学边界约束提取，不变量召回率 85.0%。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设计强规格 RAG 提示词彻底克服通用 LLM 专业领域幻觉，生成 95% 以上物理执行通过率的对比样例和热力图盲区定向补盲脚本，建立自动化测试智能闭环。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04 | 展望：当前局限与未来科研规划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🔍 当前系统的不足局限</a:t>
            </a:r>
          </a:p>
          <a:p>
            <a:pPr>
              <a:spcBef>
                <a:spcPts val="0"/>
              </a:spcBef>
              <a:spcAft>
                <a:spcPts val="15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高维特征向量特征：目前深度特征提取高度依赖 Stderr 的文本语义，对于大型计算图的全局 DAG 拓扑子图结构信息，捕捉和相似对比机制还有待加深。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 自动生成代码校验：虽然通过 RAG 取得了超 95% 的通过率，但是在极端长脚本输出时，偶尔会出现细微的 PyTorch 废弃过时 API 变量参数干扰，仍有极小的概率语法风险。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371600"/>
            <a:ext cx="6858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50876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🎯 图神经网络多模态融合特征检索 (Graph Embedding)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在后续研究中，我将引入 Graph Embedding（如 GCN/GraphSAGE）图拓扑相似编码，将计算图的有向无环子图拓扑特征，与文本 Stderr 日志多模态关联映射编码，实现兼顾结构与文本的更深层检索。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017520"/>
            <a:ext cx="6858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15468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🛡️ 基于 AST 抽象语法树与白名单的代码校验安全沙箱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在 LLM 测试代码输出至执行库前，增设静态编译合规哨兵。通过提取 AST 静态分析，对算子名、变量生命周期进行规则强校验，强制过滤废弃 API，将合规通过率直接推向 100%。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663440"/>
            <a:ext cx="6858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80060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🇨🇳 国产 AI 基础计算框架生态自适应推广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将该“接入、评估、定位、生成、补齐”的一站式模糊测试智能生命周期管理方案自适应推广移植到昇腾 MindSpore、TensorFlow 等主流异构基础计算平台，为我国高可靠人工智能基础软件添砖加瓦。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7E22"/>
                </a:solidFill>
                <a:latin typeface="Microsoft YaHei"/>
              </a:defRPr>
            </a:pPr>
            <a:r>
              <a:t>感谢各位老师的聆听！</a:t>
            </a:r>
          </a:p>
          <a:p>
            <a:pPr algn="ctr">
              <a:spcBef>
                <a:spcPts val="2000"/>
              </a:spcBef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敬请各位答辩委员会专家批评指正</a:t>
            </a:r>
          </a:p>
          <a:p>
            <a:pPr algn="ctr">
              <a:spcBef>
                <a:spcPts val="3500"/>
              </a:spcBef>
              <a:defRPr sz="1600">
                <a:solidFill>
                  <a:srgbClr val="C8D2E6"/>
                </a:solidFill>
                <a:latin typeface="Microsoft YaHei"/>
              </a:defRPr>
            </a:pPr>
            <a:r>
              <a:t>答辩人：郭俊杰  |  指导老师：吴际 副教授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